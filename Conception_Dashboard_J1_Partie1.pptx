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4" dt="2026-09-29T16:41:18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RIBEN Mahdi" userId="S::mehdi.lamriben@ynov.com::c0be09ca-ffec-4037-90ee-644dcc05f6bd" providerId="AD" clId="Web-{00000000-0000-0000-0000-000000000000}"/>
    <pc:docChg chg="modSld">
      <pc:chgData name="LAMRIBEN Mahdi" userId="S::mehdi.lamriben@ynov.com::c0be09ca-ffec-4037-90ee-644dcc05f6bd" providerId="AD" clId="Web-{00000000-0000-0000-0000-000000000000}" dt="2026-09-29T16:41:18.486" v="187"/>
      <pc:docMkLst>
        <pc:docMk/>
      </pc:docMkLst>
      <pc:sldChg chg="modSp">
        <pc:chgData name="LAMRIBEN Mahdi" userId="S::mehdi.lamriben@ynov.com::c0be09ca-ffec-4037-90ee-644dcc05f6bd" providerId="AD" clId="Web-{00000000-0000-0000-0000-000000000000}" dt="2026-09-29T16:41:00.875" v="130" actId="1076"/>
        <pc:sldMkLst>
          <pc:docMk/>
          <pc:sldMk cId="0" sldId="256"/>
        </pc:sldMkLst>
        <pc:spChg chg="mod">
          <ac:chgData name="LAMRIBEN Mahdi" userId="S::mehdi.lamriben@ynov.com::c0be09ca-ffec-4037-90ee-644dcc05f6bd" providerId="AD" clId="Web-{00000000-0000-0000-0000-000000000000}" dt="2026-09-29T16:41:00.875" v="13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08:42.173" v="0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09:17.706" v="5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09:24.128" v="7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09:49.004" v="8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09:56.051" v="9" actId="20577"/>
          <ac:spMkLst>
            <pc:docMk/>
            <pc:sldMk cId="0" sldId="256"/>
            <ac:spMk id="32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11:33.258" v="13" actId="1076"/>
        <pc:sldMkLst>
          <pc:docMk/>
          <pc:sldMk cId="0" sldId="262"/>
        </pc:sldMkLst>
        <pc:spChg chg="mod">
          <ac:chgData name="LAMRIBEN Mahdi" userId="S::mehdi.lamriben@ynov.com::c0be09ca-ffec-4037-90ee-644dcc05f6bd" providerId="AD" clId="Web-{00000000-0000-0000-0000-000000000000}" dt="2026-09-29T16:11:01.585" v="10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1:09.351" v="11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1:33.258" v="13" actId="1076"/>
          <ac:spMkLst>
            <pc:docMk/>
            <pc:sldMk cId="0" sldId="262"/>
            <ac:spMk id="16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15:03.876" v="23" actId="1076"/>
        <pc:sldMkLst>
          <pc:docMk/>
          <pc:sldMk cId="0" sldId="270"/>
        </pc:sldMkLst>
        <pc:spChg chg="mod">
          <ac:chgData name="LAMRIBEN Mahdi" userId="S::mehdi.lamriben@ynov.com::c0be09ca-ffec-4037-90ee-644dcc05f6bd" providerId="AD" clId="Web-{00000000-0000-0000-0000-000000000000}" dt="2026-09-29T16:14:21.812" v="14" actId="14100"/>
          <ac:spMkLst>
            <pc:docMk/>
            <pc:sldMk cId="0" sldId="270"/>
            <ac:spMk id="3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5:03.876" v="23" actId="1076"/>
          <ac:spMkLst>
            <pc:docMk/>
            <pc:sldMk cId="0" sldId="270"/>
            <ac:spMk id="38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4:58.532" v="21" actId="1076"/>
          <ac:spMkLst>
            <pc:docMk/>
            <pc:sldMk cId="0" sldId="270"/>
            <ac:spMk id="39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5:00.845" v="22" actId="1076"/>
          <ac:spMkLst>
            <pc:docMk/>
            <pc:sldMk cId="0" sldId="270"/>
            <ac:spMk id="40" creationId="{00000000-0000-0000-0000-000000000000}"/>
          </ac:spMkLst>
        </pc:spChg>
      </pc:sldChg>
      <pc:sldChg chg="addSp delSp modSp">
        <pc:chgData name="LAMRIBEN Mahdi" userId="S::mehdi.lamriben@ynov.com::c0be09ca-ffec-4037-90ee-644dcc05f6bd" providerId="AD" clId="Web-{00000000-0000-0000-0000-000000000000}" dt="2026-09-29T16:17:39.273" v="94" actId="14100"/>
        <pc:sldMkLst>
          <pc:docMk/>
          <pc:sldMk cId="0" sldId="272"/>
        </pc:sldMkLst>
        <pc:spChg chg="del">
          <ac:chgData name="LAMRIBEN Mahdi" userId="S::mehdi.lamriben@ynov.com::c0be09ca-ffec-4037-90ee-644dcc05f6bd" providerId="AD" clId="Web-{00000000-0000-0000-0000-000000000000}" dt="2026-09-29T16:16:00.863" v="77"/>
          <ac:spMkLst>
            <pc:docMk/>
            <pc:sldMk cId="0" sldId="272"/>
            <ac:spMk id="21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16:00.863" v="76"/>
          <ac:spMkLst>
            <pc:docMk/>
            <pc:sldMk cId="0" sldId="272"/>
            <ac:spMk id="22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16:00.863" v="75"/>
          <ac:spMkLst>
            <pc:docMk/>
            <pc:sldMk cId="0" sldId="272"/>
            <ac:spMk id="23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16:00.863" v="74"/>
          <ac:spMkLst>
            <pc:docMk/>
            <pc:sldMk cId="0" sldId="272"/>
            <ac:spMk id="24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16:00.863" v="73"/>
          <ac:spMkLst>
            <pc:docMk/>
            <pc:sldMk cId="0" sldId="272"/>
            <ac:spMk id="25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16:00.863" v="72"/>
          <ac:spMkLst>
            <pc:docMk/>
            <pc:sldMk cId="0" sldId="272"/>
            <ac:spMk id="2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7:39.273" v="94" actId="14100"/>
          <ac:spMkLst>
            <pc:docMk/>
            <pc:sldMk cId="0" sldId="272"/>
            <ac:spMk id="28" creationId="{00000000-0000-0000-0000-000000000000}"/>
          </ac:spMkLst>
        </pc:spChg>
        <pc:spChg chg="add mod">
          <ac:chgData name="LAMRIBEN Mahdi" userId="S::mehdi.lamriben@ynov.com::c0be09ca-ffec-4037-90ee-644dcc05f6bd" providerId="AD" clId="Web-{00000000-0000-0000-0000-000000000000}" dt="2026-09-29T16:16:14.238" v="78" actId="1076"/>
          <ac:spMkLst>
            <pc:docMk/>
            <pc:sldMk cId="0" sldId="272"/>
            <ac:spMk id="44" creationId="{EAEB887A-FCF6-9CDE-B5DD-66F77F4F54E5}"/>
          </ac:spMkLst>
        </pc:spChg>
        <pc:spChg chg="add mod">
          <ac:chgData name="LAMRIBEN Mahdi" userId="S::mehdi.lamriben@ynov.com::c0be09ca-ffec-4037-90ee-644dcc05f6bd" providerId="AD" clId="Web-{00000000-0000-0000-0000-000000000000}" dt="2026-09-29T16:16:14.270" v="79" actId="1076"/>
          <ac:spMkLst>
            <pc:docMk/>
            <pc:sldMk cId="0" sldId="272"/>
            <ac:spMk id="46" creationId="{B8B9FA80-86B5-0D19-0886-722E21F8C0E7}"/>
          </ac:spMkLst>
        </pc:spChg>
        <pc:spChg chg="add mod">
          <ac:chgData name="LAMRIBEN Mahdi" userId="S::mehdi.lamriben@ynov.com::c0be09ca-ffec-4037-90ee-644dcc05f6bd" providerId="AD" clId="Web-{00000000-0000-0000-0000-000000000000}" dt="2026-09-29T16:16:14.301" v="80" actId="1076"/>
          <ac:spMkLst>
            <pc:docMk/>
            <pc:sldMk cId="0" sldId="272"/>
            <ac:spMk id="48" creationId="{0FA1A3A7-FAAC-6600-7F24-98004CD67C8C}"/>
          </ac:spMkLst>
        </pc:spChg>
        <pc:spChg chg="add mod">
          <ac:chgData name="LAMRIBEN Mahdi" userId="S::mehdi.lamriben@ynov.com::c0be09ca-ffec-4037-90ee-644dcc05f6bd" providerId="AD" clId="Web-{00000000-0000-0000-0000-000000000000}" dt="2026-09-29T16:16:14.348" v="81" actId="1076"/>
          <ac:spMkLst>
            <pc:docMk/>
            <pc:sldMk cId="0" sldId="272"/>
            <ac:spMk id="50" creationId="{BA4F2DC3-D444-23E5-7ACA-1BE643C51399}"/>
          </ac:spMkLst>
        </pc:spChg>
        <pc:spChg chg="add mod">
          <ac:chgData name="LAMRIBEN Mahdi" userId="S::mehdi.lamriben@ynov.com::c0be09ca-ffec-4037-90ee-644dcc05f6bd" providerId="AD" clId="Web-{00000000-0000-0000-0000-000000000000}" dt="2026-09-29T16:16:14.379" v="82" actId="1076"/>
          <ac:spMkLst>
            <pc:docMk/>
            <pc:sldMk cId="0" sldId="272"/>
            <ac:spMk id="52" creationId="{5CA67FAB-3BBC-21A9-CA97-90D3F0BE59BF}"/>
          </ac:spMkLst>
        </pc:spChg>
        <pc:spChg chg="add mod">
          <ac:chgData name="LAMRIBEN Mahdi" userId="S::mehdi.lamriben@ynov.com::c0be09ca-ffec-4037-90ee-644dcc05f6bd" providerId="AD" clId="Web-{00000000-0000-0000-0000-000000000000}" dt="2026-09-29T16:16:14.410" v="83" actId="1076"/>
          <ac:spMkLst>
            <pc:docMk/>
            <pc:sldMk cId="0" sldId="272"/>
            <ac:spMk id="54" creationId="{F587BB45-A53D-C18A-F398-5B973564C0E3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17:07.662" v="93" actId="1076"/>
        <pc:sldMkLst>
          <pc:docMk/>
          <pc:sldMk cId="0" sldId="273"/>
        </pc:sldMkLst>
        <pc:spChg chg="mod">
          <ac:chgData name="LAMRIBEN Mahdi" userId="S::mehdi.lamriben@ynov.com::c0be09ca-ffec-4037-90ee-644dcc05f6bd" providerId="AD" clId="Web-{00000000-0000-0000-0000-000000000000}" dt="2026-09-29T16:16:32.630" v="84" actId="14100"/>
          <ac:spMkLst>
            <pc:docMk/>
            <pc:sldMk cId="0" sldId="273"/>
            <ac:spMk id="31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6:36.224" v="85" actId="1076"/>
          <ac:spMkLst>
            <pc:docMk/>
            <pc:sldMk cId="0" sldId="273"/>
            <ac:spMk id="32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6:45.161" v="87" actId="107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6:58.131" v="90" actId="1076"/>
          <ac:spMkLst>
            <pc:docMk/>
            <pc:sldMk cId="0" sldId="273"/>
            <ac:spMk id="34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7:07.662" v="93" actId="1076"/>
          <ac:spMkLst>
            <pc:docMk/>
            <pc:sldMk cId="0" sldId="273"/>
            <ac:spMk id="35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19:20.168" v="108" actId="1076"/>
        <pc:sldMkLst>
          <pc:docMk/>
          <pc:sldMk cId="0" sldId="274"/>
        </pc:sldMkLst>
        <pc:spChg chg="mod">
          <ac:chgData name="LAMRIBEN Mahdi" userId="S::mehdi.lamriben@ynov.com::c0be09ca-ffec-4037-90ee-644dcc05f6bd" providerId="AD" clId="Web-{00000000-0000-0000-0000-000000000000}" dt="2026-09-29T16:19:20.027" v="105" actId="1076"/>
          <ac:spMkLst>
            <pc:docMk/>
            <pc:sldMk cId="0" sldId="274"/>
            <ac:spMk id="5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9:20.090" v="106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9:20.121" v="107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9:20.168" v="108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8:27.869" v="97" actId="1076"/>
          <ac:spMkLst>
            <pc:docMk/>
            <pc:sldMk cId="0" sldId="274"/>
            <ac:spMk id="22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8:30.978" v="98" actId="107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8:36.478" v="99" actId="14100"/>
          <ac:spMkLst>
            <pc:docMk/>
            <pc:sldMk cId="0" sldId="274"/>
            <ac:spMk id="24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8:50.713" v="100" actId="14100"/>
          <ac:spMkLst>
            <pc:docMk/>
            <pc:sldMk cId="0" sldId="274"/>
            <ac:spMk id="26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20:09.857" v="115" actId="14100"/>
        <pc:sldMkLst>
          <pc:docMk/>
          <pc:sldMk cId="0" sldId="277"/>
        </pc:sldMkLst>
        <pc:spChg chg="mod">
          <ac:chgData name="LAMRIBEN Mahdi" userId="S::mehdi.lamriben@ynov.com::c0be09ca-ffec-4037-90ee-644dcc05f6bd" providerId="AD" clId="Web-{00000000-0000-0000-0000-000000000000}" dt="2026-09-29T16:19:45.450" v="110" actId="1076"/>
          <ac:spMkLst>
            <pc:docMk/>
            <pc:sldMk cId="0" sldId="277"/>
            <ac:spMk id="18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19:52.153" v="111" actId="14100"/>
          <ac:spMkLst>
            <pc:docMk/>
            <pc:sldMk cId="0" sldId="277"/>
            <ac:spMk id="20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0:00.013" v="113" actId="1076"/>
          <ac:spMkLst>
            <pc:docMk/>
            <pc:sldMk cId="0" sldId="277"/>
            <ac:spMk id="21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0:09.857" v="115" actId="14100"/>
          <ac:spMkLst>
            <pc:docMk/>
            <pc:sldMk cId="0" sldId="277"/>
            <ac:spMk id="22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22:27.144" v="118" actId="1076"/>
        <pc:sldMkLst>
          <pc:docMk/>
          <pc:sldMk cId="0" sldId="282"/>
        </pc:sldMkLst>
        <pc:spChg chg="mod">
          <ac:chgData name="LAMRIBEN Mahdi" userId="S::mehdi.lamriben@ynov.com::c0be09ca-ffec-4037-90ee-644dcc05f6bd" providerId="AD" clId="Web-{00000000-0000-0000-0000-000000000000}" dt="2026-09-29T16:22:27.144" v="118" actId="1076"/>
          <ac:spMkLst>
            <pc:docMk/>
            <pc:sldMk cId="0" sldId="282"/>
            <ac:spMk id="11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22:38.707" v="119" actId="1076"/>
        <pc:sldMkLst>
          <pc:docMk/>
          <pc:sldMk cId="0" sldId="283"/>
        </pc:sldMkLst>
        <pc:spChg chg="mod">
          <ac:chgData name="LAMRIBEN Mahdi" userId="S::mehdi.lamriben@ynov.com::c0be09ca-ffec-4037-90ee-644dcc05f6bd" providerId="AD" clId="Web-{00000000-0000-0000-0000-000000000000}" dt="2026-09-29T16:22:38.707" v="119" actId="1076"/>
          <ac:spMkLst>
            <pc:docMk/>
            <pc:sldMk cId="0" sldId="283"/>
            <ac:spMk id="3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00000000-0000-0000-0000-000000000000}" dt="2026-09-29T16:24:40.415" v="127" actId="1076"/>
        <pc:sldMkLst>
          <pc:docMk/>
          <pc:sldMk cId="0" sldId="285"/>
        </pc:sldMkLst>
        <pc:spChg chg="mod">
          <ac:chgData name="LAMRIBEN Mahdi" userId="S::mehdi.lamriben@ynov.com::c0be09ca-ffec-4037-90ee-644dcc05f6bd" providerId="AD" clId="Web-{00000000-0000-0000-0000-000000000000}" dt="2026-09-29T16:24:07.257" v="120" actId="1076"/>
          <ac:spMkLst>
            <pc:docMk/>
            <pc:sldMk cId="0" sldId="285"/>
            <ac:spMk id="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07.320" v="121" actId="107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12.585" v="122" actId="1076"/>
          <ac:spMkLst>
            <pc:docMk/>
            <pc:sldMk cId="0" sldId="285"/>
            <ac:spMk id="18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35.211" v="126" actId="107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40.415" v="127" actId="1076"/>
          <ac:spMkLst>
            <pc:docMk/>
            <pc:sldMk cId="0" sldId="285"/>
            <ac:spMk id="23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17.336" v="123" actId="1076"/>
          <ac:spMkLst>
            <pc:docMk/>
            <pc:sldMk cId="0" sldId="285"/>
            <ac:spMk id="26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27.164" v="125" actId="1076"/>
          <ac:spMkLst>
            <pc:docMk/>
            <pc:sldMk cId="0" sldId="285"/>
            <ac:spMk id="30" creationId="{00000000-0000-0000-0000-000000000000}"/>
          </ac:spMkLst>
        </pc:spChg>
        <pc:spChg chg="mod">
          <ac:chgData name="LAMRIBEN Mahdi" userId="S::mehdi.lamriben@ynov.com::c0be09ca-ffec-4037-90ee-644dcc05f6bd" providerId="AD" clId="Web-{00000000-0000-0000-0000-000000000000}" dt="2026-09-29T16:24:22.305" v="124" actId="1076"/>
          <ac:spMkLst>
            <pc:docMk/>
            <pc:sldMk cId="0" sldId="285"/>
            <ac:spMk id="34" creationId="{00000000-0000-0000-0000-000000000000}"/>
          </ac:spMkLst>
        </pc:spChg>
      </pc:sldChg>
      <pc:sldChg chg="addSp delSp modSp">
        <pc:chgData name="LAMRIBEN Mahdi" userId="S::mehdi.lamriben@ynov.com::c0be09ca-ffec-4037-90ee-644dcc05f6bd" providerId="AD" clId="Web-{00000000-0000-0000-0000-000000000000}" dt="2026-09-29T16:41:18.486" v="187"/>
        <pc:sldMkLst>
          <pc:docMk/>
          <pc:sldMk cId="0" sldId="286"/>
        </pc:sldMkLst>
        <pc:spChg chg="del">
          <ac:chgData name="LAMRIBEN Mahdi" userId="S::mehdi.lamriben@ynov.com::c0be09ca-ffec-4037-90ee-644dcc05f6bd" providerId="AD" clId="Web-{00000000-0000-0000-0000-000000000000}" dt="2026-09-29T16:41:13.704" v="158"/>
          <ac:spMkLst>
            <pc:docMk/>
            <pc:sldMk cId="0" sldId="286"/>
            <ac:spMk id="5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7"/>
          <ac:spMkLst>
            <pc:docMk/>
            <pc:sldMk cId="0" sldId="286"/>
            <ac:spMk id="6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6"/>
          <ac:spMkLst>
            <pc:docMk/>
            <pc:sldMk cId="0" sldId="286"/>
            <ac:spMk id="7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5"/>
          <ac:spMkLst>
            <pc:docMk/>
            <pc:sldMk cId="0" sldId="286"/>
            <ac:spMk id="8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4"/>
          <ac:spMkLst>
            <pc:docMk/>
            <pc:sldMk cId="0" sldId="286"/>
            <ac:spMk id="9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3"/>
          <ac:spMkLst>
            <pc:docMk/>
            <pc:sldMk cId="0" sldId="286"/>
            <ac:spMk id="10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2"/>
          <ac:spMkLst>
            <pc:docMk/>
            <pc:sldMk cId="0" sldId="286"/>
            <ac:spMk id="11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1"/>
          <ac:spMkLst>
            <pc:docMk/>
            <pc:sldMk cId="0" sldId="286"/>
            <ac:spMk id="12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50"/>
          <ac:spMkLst>
            <pc:docMk/>
            <pc:sldMk cId="0" sldId="286"/>
            <ac:spMk id="13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49"/>
          <ac:spMkLst>
            <pc:docMk/>
            <pc:sldMk cId="0" sldId="286"/>
            <ac:spMk id="14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48"/>
          <ac:spMkLst>
            <pc:docMk/>
            <pc:sldMk cId="0" sldId="286"/>
            <ac:spMk id="15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47"/>
          <ac:spMkLst>
            <pc:docMk/>
            <pc:sldMk cId="0" sldId="286"/>
            <ac:spMk id="16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46"/>
          <ac:spMkLst>
            <pc:docMk/>
            <pc:sldMk cId="0" sldId="286"/>
            <ac:spMk id="17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704" v="145"/>
          <ac:spMkLst>
            <pc:docMk/>
            <pc:sldMk cId="0" sldId="286"/>
            <ac:spMk id="18" creationId="{00000000-0000-0000-0000-000000000000}"/>
          </ac:spMkLst>
        </pc:spChg>
        <pc:spChg chg="del mod">
          <ac:chgData name="LAMRIBEN Mahdi" userId="S::mehdi.lamriben@ynov.com::c0be09ca-ffec-4037-90ee-644dcc05f6bd" providerId="AD" clId="Web-{00000000-0000-0000-0000-000000000000}" dt="2026-09-29T16:41:13.688" v="144"/>
          <ac:spMkLst>
            <pc:docMk/>
            <pc:sldMk cId="0" sldId="286"/>
            <ac:spMk id="19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43"/>
          <ac:spMkLst>
            <pc:docMk/>
            <pc:sldMk cId="0" sldId="286"/>
            <ac:spMk id="20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42"/>
          <ac:spMkLst>
            <pc:docMk/>
            <pc:sldMk cId="0" sldId="286"/>
            <ac:spMk id="21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41"/>
          <ac:spMkLst>
            <pc:docMk/>
            <pc:sldMk cId="0" sldId="286"/>
            <ac:spMk id="22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40"/>
          <ac:spMkLst>
            <pc:docMk/>
            <pc:sldMk cId="0" sldId="286"/>
            <ac:spMk id="23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9"/>
          <ac:spMkLst>
            <pc:docMk/>
            <pc:sldMk cId="0" sldId="286"/>
            <ac:spMk id="24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8"/>
          <ac:spMkLst>
            <pc:docMk/>
            <pc:sldMk cId="0" sldId="286"/>
            <ac:spMk id="25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7"/>
          <ac:spMkLst>
            <pc:docMk/>
            <pc:sldMk cId="0" sldId="286"/>
            <ac:spMk id="26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6"/>
          <ac:spMkLst>
            <pc:docMk/>
            <pc:sldMk cId="0" sldId="286"/>
            <ac:spMk id="27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5"/>
          <ac:spMkLst>
            <pc:docMk/>
            <pc:sldMk cId="0" sldId="286"/>
            <ac:spMk id="28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4"/>
          <ac:spMkLst>
            <pc:docMk/>
            <pc:sldMk cId="0" sldId="286"/>
            <ac:spMk id="29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3"/>
          <ac:spMkLst>
            <pc:docMk/>
            <pc:sldMk cId="0" sldId="286"/>
            <ac:spMk id="30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2"/>
          <ac:spMkLst>
            <pc:docMk/>
            <pc:sldMk cId="0" sldId="286"/>
            <ac:spMk id="31" creationId="{00000000-0000-0000-0000-000000000000}"/>
          </ac:spMkLst>
        </pc:spChg>
        <pc:spChg chg="del">
          <ac:chgData name="LAMRIBEN Mahdi" userId="S::mehdi.lamriben@ynov.com::c0be09ca-ffec-4037-90ee-644dcc05f6bd" providerId="AD" clId="Web-{00000000-0000-0000-0000-000000000000}" dt="2026-09-29T16:41:13.688" v="131"/>
          <ac:spMkLst>
            <pc:docMk/>
            <pc:sldMk cId="0" sldId="286"/>
            <ac:spMk id="32" creationId="{00000000-0000-0000-0000-000000000000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7.986" v="159"/>
          <ac:spMkLst>
            <pc:docMk/>
            <pc:sldMk cId="0" sldId="286"/>
            <ac:spMk id="35" creationId="{533588D2-AD75-9861-E84B-807DB28A1ACC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7.986" v="160"/>
          <ac:spMkLst>
            <pc:docMk/>
            <pc:sldMk cId="0" sldId="286"/>
            <ac:spMk id="37" creationId="{8CB434CC-53F3-962E-D0DF-81D2862F29D4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01" v="161"/>
          <ac:spMkLst>
            <pc:docMk/>
            <pc:sldMk cId="0" sldId="286"/>
            <ac:spMk id="39" creationId="{E94F72EB-EE3B-EDEE-4D7A-578EC2567011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01" v="162"/>
          <ac:spMkLst>
            <pc:docMk/>
            <pc:sldMk cId="0" sldId="286"/>
            <ac:spMk id="41" creationId="{0122B7B0-5B6F-6E53-AA98-12CC5FB01F26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17" v="163"/>
          <ac:spMkLst>
            <pc:docMk/>
            <pc:sldMk cId="0" sldId="286"/>
            <ac:spMk id="43" creationId="{EF9D1989-78EF-EB9A-48B2-BF94B48ABB73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32" v="164"/>
          <ac:spMkLst>
            <pc:docMk/>
            <pc:sldMk cId="0" sldId="286"/>
            <ac:spMk id="45" creationId="{C54B71B7-38D9-58D5-FAAF-8DF603A87191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48" v="165"/>
          <ac:spMkLst>
            <pc:docMk/>
            <pc:sldMk cId="0" sldId="286"/>
            <ac:spMk id="47" creationId="{70DC8105-84D3-C16A-9A72-DC348DACF0BE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48" v="166"/>
          <ac:spMkLst>
            <pc:docMk/>
            <pc:sldMk cId="0" sldId="286"/>
            <ac:spMk id="49" creationId="{D7ABE070-3C36-43AB-D820-FBCABDB3F493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64" v="167"/>
          <ac:spMkLst>
            <pc:docMk/>
            <pc:sldMk cId="0" sldId="286"/>
            <ac:spMk id="51" creationId="{8516F9EB-8338-1A82-3982-798E2F0A125F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095" v="168"/>
          <ac:spMkLst>
            <pc:docMk/>
            <pc:sldMk cId="0" sldId="286"/>
            <ac:spMk id="53" creationId="{02BD0775-AF86-4540-589D-8A37D3D2FBAD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111" v="169"/>
          <ac:spMkLst>
            <pc:docMk/>
            <pc:sldMk cId="0" sldId="286"/>
            <ac:spMk id="55" creationId="{FC12A3DE-806B-C79D-1B61-34907124DB11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126" v="170"/>
          <ac:spMkLst>
            <pc:docMk/>
            <pc:sldMk cId="0" sldId="286"/>
            <ac:spMk id="57" creationId="{9818D02A-F34C-45A5-6F03-810BD37802DC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157" v="171"/>
          <ac:spMkLst>
            <pc:docMk/>
            <pc:sldMk cId="0" sldId="286"/>
            <ac:spMk id="59" creationId="{CA4E15D8-31C4-CFB0-E08B-8B68C1F7C9C0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173" v="172"/>
          <ac:spMkLst>
            <pc:docMk/>
            <pc:sldMk cId="0" sldId="286"/>
            <ac:spMk id="61" creationId="{7C0776E8-FEED-3CB5-26C9-6556BBD69004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189" v="173"/>
          <ac:spMkLst>
            <pc:docMk/>
            <pc:sldMk cId="0" sldId="286"/>
            <ac:spMk id="63" creationId="{45AD15B9-4DF5-3F79-7E54-A643C31938E2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220" v="174"/>
          <ac:spMkLst>
            <pc:docMk/>
            <pc:sldMk cId="0" sldId="286"/>
            <ac:spMk id="65" creationId="{89DD791B-DB57-2E0E-2257-3BA9006CF098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236" v="175"/>
          <ac:spMkLst>
            <pc:docMk/>
            <pc:sldMk cId="0" sldId="286"/>
            <ac:spMk id="67" creationId="{5314386C-E465-695D-D413-3422DF405438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251" v="176"/>
          <ac:spMkLst>
            <pc:docMk/>
            <pc:sldMk cId="0" sldId="286"/>
            <ac:spMk id="69" creationId="{E85DB44D-D019-FDE6-62A9-DEF9C88BF0B6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267" v="177"/>
          <ac:spMkLst>
            <pc:docMk/>
            <pc:sldMk cId="0" sldId="286"/>
            <ac:spMk id="71" creationId="{54E52D44-8A68-7454-B9B6-8F4CE4A47547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298" v="178"/>
          <ac:spMkLst>
            <pc:docMk/>
            <pc:sldMk cId="0" sldId="286"/>
            <ac:spMk id="73" creationId="{24F44E74-C6A6-E202-8EDE-30FE1D083702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314" v="179"/>
          <ac:spMkLst>
            <pc:docMk/>
            <pc:sldMk cId="0" sldId="286"/>
            <ac:spMk id="75" creationId="{BCEA4C6B-B63C-D95F-D30E-46C29E67DF30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329" v="180"/>
          <ac:spMkLst>
            <pc:docMk/>
            <pc:sldMk cId="0" sldId="286"/>
            <ac:spMk id="77" creationId="{A21374DF-A983-809E-1345-9FB7A230C031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361" v="181"/>
          <ac:spMkLst>
            <pc:docMk/>
            <pc:sldMk cId="0" sldId="286"/>
            <ac:spMk id="79" creationId="{9623F3D8-626B-AC4D-EB57-42BC866FBBDC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376" v="182"/>
          <ac:spMkLst>
            <pc:docMk/>
            <pc:sldMk cId="0" sldId="286"/>
            <ac:spMk id="81" creationId="{EA06B83C-8AAC-8B3F-5C16-AFB7431188EB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392" v="183"/>
          <ac:spMkLst>
            <pc:docMk/>
            <pc:sldMk cId="0" sldId="286"/>
            <ac:spMk id="83" creationId="{62DD137D-518C-5461-D9F5-6323A5C88EF6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423" v="184"/>
          <ac:spMkLst>
            <pc:docMk/>
            <pc:sldMk cId="0" sldId="286"/>
            <ac:spMk id="85" creationId="{3FBBD7C5-F0DC-FD05-99BF-4B45A8F24F94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439" v="185"/>
          <ac:spMkLst>
            <pc:docMk/>
            <pc:sldMk cId="0" sldId="286"/>
            <ac:spMk id="87" creationId="{FEA15462-A859-C397-9972-5A5F590850D0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454" v="186"/>
          <ac:spMkLst>
            <pc:docMk/>
            <pc:sldMk cId="0" sldId="286"/>
            <ac:spMk id="89" creationId="{6357CAB1-2EC6-C691-0D56-8F1D4949DE37}"/>
          </ac:spMkLst>
        </pc:spChg>
        <pc:spChg chg="add">
          <ac:chgData name="LAMRIBEN Mahdi" userId="S::mehdi.lamriben@ynov.com::c0be09ca-ffec-4037-90ee-644dcc05f6bd" providerId="AD" clId="Web-{00000000-0000-0000-0000-000000000000}" dt="2026-09-29T16:41:18.486" v="187"/>
          <ac:spMkLst>
            <pc:docMk/>
            <pc:sldMk cId="0" sldId="286"/>
            <ac:spMk id="91" creationId="{DA1B480B-DC71-EC10-8CEF-06E73F0D60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A84FF-4B5C-424B-BAF4-76D4DF7E343D}" type="datetimeFigureOut"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24C9A-D423-441D-B952-A659A430A0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7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7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CONCEPTION DE DASHBOARDS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Data &amp; IA · Jour 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6F2DB5"/>
          </a:solidFill>
          <a:ln w="12700">
            <a:solidFill>
              <a:srgbClr val="6F2D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914400"/>
            <a:ext cx="3063240" cy="4800600"/>
          </a:xfrm>
          <a:prstGeom prst="roundRect">
            <a:avLst>
              <a:gd name="adj" fmla="val 1791"/>
            </a:avLst>
          </a:prstGeom>
          <a:solidFill>
            <a:srgbClr val="F8F7FB"/>
          </a:solidFill>
          <a:ln w="12700">
            <a:solidFill>
              <a:srgbClr val="F8F7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1234440"/>
            <a:ext cx="1143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026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970264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70264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104120" y="1234440"/>
            <a:ext cx="1143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5042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50424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38 %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50424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+2,1 pts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823960" y="2514600"/>
            <a:ext cx="242316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8552" y="264261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du CA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9720" y="3721608"/>
            <a:ext cx="180136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3017520"/>
            <a:ext cx="0" cy="70408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199880" y="3453343"/>
            <a:ext cx="288219" cy="7112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477939" y="3454055"/>
            <a:ext cx="288219" cy="35204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766158" y="3489259"/>
            <a:ext cx="288219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10054377" y="3400044"/>
            <a:ext cx="278059" cy="86716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342596" y="3389884"/>
            <a:ext cx="324246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636362" y="3387385"/>
            <a:ext cx="324246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823960" y="4160520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428853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Ventes par région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5138928"/>
            <a:ext cx="180136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4663440"/>
            <a:ext cx="0" cy="47548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54312" y="4924958"/>
            <a:ext cx="140818" cy="213970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14586" y="4796577"/>
            <a:ext cx="140818" cy="342351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74859" y="4877410"/>
            <a:ext cx="140818" cy="261518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35133" y="4720499"/>
            <a:ext cx="140818" cy="418429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95406" y="4844125"/>
            <a:ext cx="140818" cy="294803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98755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CONCEPTION DE DASHBOARDS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160020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Concevoir un dashboard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713232" y="3337560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D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1 · Partie 1 · Design, hiérarchie visuelle et choix des visuels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Mastère 2 Data &amp; Intelligence artificielle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Objectifs de cette première partie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 d’un assemblage de graphiques à un tableau de bord pensé pour la décision.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" cy="137160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733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· Intention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020824"/>
            <a:ext cx="3154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Distinguer dashboard technique et dashboard professionnel.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370832" y="150876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508760"/>
            <a:ext cx="54864" cy="137160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733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 · Design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020824"/>
            <a:ext cx="3154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Appliquer les principes de lisibilité : 5 secondes, proximité, contraste, alignement.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508760"/>
            <a:ext cx="54864" cy="1371600"/>
          </a:xfrm>
          <a:prstGeom prst="rect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733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 · Visuels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02752" y="2020824"/>
            <a:ext cx="3154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Choisir un graphique en fonction de la question métier et du type de données.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1874520" y="333756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3337560"/>
            <a:ext cx="54864" cy="1371600"/>
          </a:xfrm>
          <a:prstGeom prst="rect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 · Hiérarchie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075688" y="3849624"/>
            <a:ext cx="3657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Structurer la page avec un layout en Z ou en F, la taille, la couleur et les espaces blancs.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309360" y="333756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337560"/>
            <a:ext cx="54864" cy="1371600"/>
          </a:xfrm>
          <a:prstGeom prst="rect">
            <a:avLst/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 · Accessibilité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0528" y="3849624"/>
            <a:ext cx="3657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une palette cohérente et exploitable par le plus grand nombre.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3246120" y="5257800"/>
            <a:ext cx="5669280" cy="329184"/>
          </a:xfrm>
          <a:prstGeom prst="roundRect">
            <a:avLst>
              <a:gd name="adj" fmla="val 22222"/>
            </a:avLst>
          </a:prstGeom>
          <a:solidFill>
            <a:srgbClr val="EDE3F8"/>
          </a:solidFill>
          <a:ln w="12700">
            <a:solidFill>
              <a:srgbClr val="EDE3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5321808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comme support — principes transférables à tout outil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6C2DB4"/>
          </a:solidFill>
          <a:ln w="12700">
            <a:solidFill>
              <a:srgbClr val="6C2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8580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6060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356616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52628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Penser avant de construire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" y="3246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D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dashboard n’est pas une collection de visuels : c’est une interface de décision.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6217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Data &amp; Intelligence artificielle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dashboard sert à réduire le temps de compréhension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L’objectif n’est pas de montrer toutes les données, mais de faire émerger ce qui compte.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4754880" cy="3474720"/>
          </a:xfrm>
          <a:prstGeom prst="roundRect">
            <a:avLst>
              <a:gd name="adj" fmla="val 1316"/>
            </a:avLst>
          </a:prstGeom>
          <a:solidFill>
            <a:srgbClr val="F0EDF5"/>
          </a:solidFill>
          <a:ln w="12700">
            <a:solidFill>
              <a:srgbClr val="E2DB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Données disponibles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26060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67004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26060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67004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324612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31012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324612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331012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88620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9502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388620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39502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Canaux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2788920"/>
            <a:ext cx="731520" cy="1097280"/>
          </a:xfrm>
          <a:prstGeom prst="chevron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645920"/>
            <a:ext cx="461772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Message utile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697480"/>
            <a:ext cx="3794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« La croissance ralentit malgré une hausse du volume. La marge est sous pression sur deux régions. 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9168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dashboard sélectionne, hiérarchise et contextualise les informations.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Dashboard technique vs dashboard professionnel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différence principale n’est pas l’outil : c’est l’intention de communication.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54864" cy="4160520"/>
          </a:xfrm>
          <a:prstGeom prst="rect">
            <a:avLst/>
          </a:prstGeom>
          <a:solidFill>
            <a:srgbClr val="625F70"/>
          </a:solidFill>
          <a:ln w="12700">
            <a:solidFill>
              <a:srgbClr val="625F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733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Dashboard technique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" y="2020824"/>
            <a:ext cx="49377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montre beaucoup d’informations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reflète souvent la structure de la donnée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demande à l’utilisateur d’explorer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privilégie l’exhaustivité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s’adresse surtout à un public expert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199632" y="150876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508760"/>
            <a:ext cx="54864" cy="416052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733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Dashboard professionnel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020824"/>
            <a:ext cx="49377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met en avant les décisions à prendre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traduit les données en indicateurs métier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guide le regard vers l’essentiel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privilégie la clarté et la cohérence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s’adapte au profil de l’utilisateur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011680" y="5897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sophistication technique ne compense jamais un message flou.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Commencer par l’utilisateur, pas par le graphique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même dataset peut produire plusieurs dashboards valides selon le public.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54864" cy="333756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Direction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" y="2066544"/>
            <a:ext cx="219456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risques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3511296" y="155448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1554480"/>
            <a:ext cx="54864" cy="333756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Manager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12464" y="2066544"/>
            <a:ext cx="219456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équipes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6364224" y="155448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1554480"/>
            <a:ext cx="54864" cy="3337560"/>
          </a:xfrm>
          <a:prstGeom prst="rect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Analyste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65392" y="2066544"/>
            <a:ext cx="219456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Filtres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détails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9217152" y="155448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7152" y="1554480"/>
            <a:ext cx="54864" cy="3337560"/>
          </a:xfrm>
          <a:prstGeom prst="rect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Opérationnel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418320" y="2066544"/>
            <a:ext cx="219456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tâches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court terme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965960" y="5303520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Question de conception : « Que doit comprendre cette personne en premier ? 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Une chaîne de conception simple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décision précède l’indicateur, qui précède le visuel.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08760" y="1508760"/>
            <a:ext cx="658368" cy="658368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6642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76418" y="1837944"/>
            <a:ext cx="2106239" cy="18142"/>
          </a:xfrm>
          <a:prstGeom prst="line">
            <a:avLst/>
          </a:prstGeom>
          <a:noFill/>
          <a:ln w="25400">
            <a:solidFill>
              <a:srgbClr val="C9C4D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7724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Décision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doit pouvoir décider l’utilisateur ?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658368" cy="658368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6642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V="1">
            <a:off x="4956266" y="1837944"/>
            <a:ext cx="2097168" cy="9071"/>
          </a:xfrm>
          <a:prstGeom prst="line">
            <a:avLst/>
          </a:prstGeom>
          <a:noFill/>
          <a:ln w="25400">
            <a:solidFill>
              <a:srgbClr val="C9C4D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56616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Question métier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 question faut-il résoudre ?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7086600" y="1508760"/>
            <a:ext cx="658368" cy="658368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6642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V="1">
            <a:off x="7754258" y="1837945"/>
            <a:ext cx="2088096" cy="36284"/>
          </a:xfrm>
          <a:prstGeom prst="line">
            <a:avLst/>
          </a:prstGeom>
          <a:noFill/>
          <a:ln w="25400">
            <a:solidFill>
              <a:srgbClr val="C9C4D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Indicateur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 mesure répond objectivement à la question ?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9875520" y="1508760"/>
            <a:ext cx="658368" cy="658368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16642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8972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 représentation facilite la lecture ?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2148840" y="4709160"/>
            <a:ext cx="7909560" cy="868680"/>
          </a:xfrm>
          <a:prstGeom prst="roundRect">
            <a:avLst>
              <a:gd name="adj" fmla="val 4211"/>
            </a:avLst>
          </a:prstGeom>
          <a:solidFill>
            <a:srgbClr val="EDE3F8"/>
          </a:solidFill>
          <a:ln w="12700">
            <a:solidFill>
              <a:srgbClr val="EDE3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498348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: « Dois-je intervenir sur une région ? » → écart vs objectif → bar chart trié + code d’alerte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Métrique ≠ KPI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Toutes les mesures ne méritent pas la même place dans le dashboard.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0749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Métrique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mesure observable ou calculée.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41605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de commandes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clic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Temps moyen de traitement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074920" cy="3886200"/>
          </a:xfrm>
          <a:prstGeom prst="roundRect">
            <a:avLst>
              <a:gd name="adj" fmla="val 1176"/>
            </a:avLst>
          </a:prstGeom>
          <a:solidFill>
            <a:srgbClr val="F3ECFA"/>
          </a:solidFill>
          <a:ln w="12700">
            <a:solidFill>
              <a:srgbClr val="D8C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KPI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mesure directement liée à un objectif ou à une décision.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2062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 vs objectif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 vs N-1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churn vs seuil d’alerte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KPI sans contexte est une valeur isolée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contexte transforme une valeur en information exploitable.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8803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8196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Chiffre d’affaires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60704" y="20756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60704" y="241401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actuelle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96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63550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086600" y="1764792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182880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 vs N-1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32520" y="1764792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18288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2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2,6 M€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: croissance positive, mais objectif non atteint.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Contexte utile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96012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 à une période de référence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 à un objectif ou à un seuil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variation absolue et relative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 de lecture : mieux / moins bien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6C2DB4"/>
          </a:solidFill>
          <a:ln w="12700">
            <a:solidFill>
              <a:srgbClr val="6C2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8580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6060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356616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52628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Design data : guider le regard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" y="3246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D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décideur doit comprendre le message principal en quelques secondes.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6217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Data &amp; Intelligence artificielle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règle des 5 secondes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message principal doit être visible avant toute exploration détaillée.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2240280" cy="2240280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299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 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CE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identifier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ECE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l’essentiel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49040" y="1554480"/>
            <a:ext cx="2331720" cy="32918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554480"/>
            <a:ext cx="54864" cy="3291840"/>
          </a:xfrm>
          <a:prstGeom prst="rect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· Situation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950208" y="2066544"/>
            <a:ext cx="2011680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Où en sommes-nous ?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27648" y="1554480"/>
            <a:ext cx="2331720" cy="32918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554480"/>
            <a:ext cx="54864" cy="329184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 · Écart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28816" y="2066544"/>
            <a:ext cx="2011680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Qu’est-ce qui mérite l’attention ?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8906256" y="1554480"/>
            <a:ext cx="2331720" cy="32918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06256" y="1554480"/>
            <a:ext cx="54864" cy="3291840"/>
          </a:xfrm>
          <a:prstGeom prst="rect">
            <a:avLst/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 · Action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07424" y="2066544"/>
            <a:ext cx="2011680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doit-on regarder ou décider ensuite ?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240280" y="53492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 tout a la même importance visuelle, rien n’est vraiment important.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Proximité : regrouper ce qui va ensemble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distance entre les éléments crée une structure avant même la lecture du texte.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25F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Sans regroupement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21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205740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2121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05740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121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172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N-1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310896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21992" y="3172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10896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3172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L’utilisateur doit reconstruire mentalement les relations.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0" y="1554480"/>
            <a:ext cx="0" cy="3977640"/>
          </a:xfrm>
          <a:prstGeom prst="line">
            <a:avLst/>
          </a:prstGeom>
          <a:noFill/>
          <a:ln w="15240">
            <a:solidFill>
              <a:srgbClr val="D5D1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Avec regroupement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2148840" cy="2057400"/>
          </a:xfrm>
          <a:prstGeom prst="roundRect">
            <a:avLst>
              <a:gd name="adj" fmla="val 1778"/>
            </a:avLst>
          </a:prstGeom>
          <a:solidFill>
            <a:srgbClr val="F3ECFA"/>
          </a:solidFill>
          <a:ln w="12700">
            <a:solidFill>
              <a:srgbClr val="DDCD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69748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76148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69748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276148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24612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31012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3246120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33101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N-1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32520" y="1965960"/>
            <a:ext cx="2148840" cy="2057400"/>
          </a:xfrm>
          <a:prstGeom prst="roundRect">
            <a:avLst>
              <a:gd name="adj" fmla="val 1778"/>
            </a:avLst>
          </a:prstGeom>
          <a:solidFill>
            <a:srgbClr val="ECF5F3"/>
          </a:solidFill>
          <a:ln w="12700">
            <a:solidFill>
              <a:srgbClr val="CB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61120" y="274320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272" y="280720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75520" y="2743200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48672" y="280720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regroupement communique la logique sans ajouter de texte.</a:t>
            </a:r>
            <a:endParaRPr lang="en-US" sz="12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Alignement : rendre la page prévisible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grille cohérente réduit la charge cognitive et améliore la lecture.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25F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Alignements flottants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828800" cy="731520"/>
          </a:xfrm>
          <a:prstGeom prst="roundRect">
            <a:avLst>
              <a:gd name="adj" fmla="val 3750"/>
            </a:avLst>
          </a:prstGeom>
          <a:solidFill>
            <a:srgbClr val="F9F8FB"/>
          </a:solidFill>
          <a:ln w="12700">
            <a:solidFill>
              <a:srgbClr val="D6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874520"/>
            <a:ext cx="1554480" cy="960120"/>
          </a:xfrm>
          <a:prstGeom prst="roundRect">
            <a:avLst>
              <a:gd name="adj" fmla="val 2857"/>
            </a:avLst>
          </a:prstGeom>
          <a:solidFill>
            <a:srgbClr val="EEEAF2"/>
          </a:solidFill>
          <a:ln w="12700">
            <a:solidFill>
              <a:srgbClr val="D6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3108960"/>
            <a:ext cx="1737360" cy="1097280"/>
          </a:xfrm>
          <a:prstGeom prst="roundRect">
            <a:avLst>
              <a:gd name="adj" fmla="val 2500"/>
            </a:avLst>
          </a:prstGeom>
          <a:solidFill>
            <a:srgbClr val="F9F8FB"/>
          </a:solidFill>
          <a:ln w="12700">
            <a:solidFill>
              <a:srgbClr val="D6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3291840"/>
            <a:ext cx="1417320" cy="822960"/>
          </a:xfrm>
          <a:prstGeom prst="roundRect">
            <a:avLst>
              <a:gd name="adj" fmla="val 3333"/>
            </a:avLst>
          </a:prstGeom>
          <a:solidFill>
            <a:srgbClr val="EEEAF2"/>
          </a:solidFill>
          <a:ln w="12700">
            <a:solidFill>
              <a:srgbClr val="D6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1508760"/>
            <a:ext cx="0" cy="3840480"/>
          </a:xfrm>
          <a:prstGeom prst="line">
            <a:avLst/>
          </a:prstGeom>
          <a:noFill/>
          <a:ln w="12700">
            <a:solidFill>
              <a:srgbClr val="D5D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Grille explicite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0" cy="288036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1828800"/>
            <a:ext cx="0" cy="288036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1828800"/>
            <a:ext cx="0" cy="288036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9800" y="1828800"/>
            <a:ext cx="0" cy="288036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0" y="1828800"/>
            <a:ext cx="0" cy="288036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828800"/>
            <a:ext cx="4572000" cy="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88920"/>
            <a:ext cx="4572000" cy="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749040"/>
            <a:ext cx="4572000" cy="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709160"/>
            <a:ext cx="4572000" cy="0"/>
          </a:xfrm>
          <a:prstGeom prst="line">
            <a:avLst/>
          </a:prstGeom>
          <a:noFill/>
          <a:ln w="12700">
            <a:solidFill>
              <a:srgbClr val="EC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828800"/>
            <a:ext cx="2194560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828800"/>
            <a:ext cx="2194560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4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788920"/>
            <a:ext cx="4572000" cy="960120"/>
          </a:xfrm>
          <a:prstGeom prst="roundRect">
            <a:avLst>
              <a:gd name="adj" fmla="val 2857"/>
            </a:avLst>
          </a:prstGeom>
          <a:solidFill>
            <a:srgbClr val="F3ECFA"/>
          </a:solidFill>
          <a:ln w="12700">
            <a:solidFill>
              <a:srgbClr val="D8D4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931920"/>
            <a:ext cx="2194560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931920"/>
            <a:ext cx="2194560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contenu, lecture plus stable.</a:t>
            </a:r>
            <a:endParaRPr lang="en-US" sz="128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Contraste : créer des niveaux de priorité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contraste doit signaler une différence utile, pas simplement décorer.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0120" y="1645920"/>
            <a:ext cx="4251960" cy="914400"/>
          </a:xfrm>
          <a:prstGeom prst="roundRect">
            <a:avLst>
              <a:gd name="adj" fmla="val 4000"/>
            </a:avLst>
          </a:prstGeom>
          <a:solidFill>
            <a:srgbClr val="F3ECFA"/>
          </a:solidFill>
          <a:ln w="12700">
            <a:solidFill>
              <a:srgbClr val="D9C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856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8105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KPI critique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880360"/>
            <a:ext cx="4251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090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3044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Analyse principale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4114800"/>
            <a:ext cx="4251960" cy="914400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 w="12700">
            <a:solidFill>
              <a:srgbClr val="E1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325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4279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25F7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Détail secondaire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Variables de contraste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EDE3F8"/>
          </a:solidFill>
          <a:ln w="12700">
            <a:solidFill>
              <a:srgbClr val="EDE3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graisse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807208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87121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2807208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87121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465576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52958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3465576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352958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densité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526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: utiliser peu de contrastes, mais de façon cohérente.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L’espace blanc est un outil de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 contenu à l’écran ne signifie pas plus d’information comprise.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1EAF8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87168" y="178308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1EAF8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14216" y="178308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1EAF8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5176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265176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14216" y="265176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52044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352044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14216" y="352044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38912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438912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14216" y="4389120"/>
            <a:ext cx="1325880" cy="658368"/>
          </a:xfrm>
          <a:prstGeom prst="roundRect">
            <a:avLst>
              <a:gd name="adj" fmla="val 2778"/>
            </a:avLst>
          </a:prstGeom>
          <a:solidFill>
            <a:srgbClr val="F7F7FA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5074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2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Densité élevée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502920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87452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20025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21424" y="2258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821424" y="2596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83880" y="187452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20025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30184" y="2258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38 %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330184" y="2596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pts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92640" y="1874520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38944" y="20025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38944" y="2258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4,2 %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838944" y="2596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-0,8 pt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75120" y="3154680"/>
            <a:ext cx="434340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328269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 principale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040880" y="4727448"/>
            <a:ext cx="372160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657600"/>
            <a:ext cx="0" cy="106984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4427891"/>
            <a:ext cx="595457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flipV="1">
            <a:off x="7645408" y="4365327"/>
            <a:ext cx="595457" cy="55364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231795" y="4374398"/>
            <a:ext cx="595457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flipV="1">
            <a:off x="8854466" y="4183453"/>
            <a:ext cx="541029" cy="191435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9413638" y="3920382"/>
            <a:ext cx="669889" cy="26307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092599" y="3920871"/>
            <a:ext cx="669889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749808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Hiérarchie claire</a:t>
            </a:r>
            <a:endParaRPr lang="en-US" sz="12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6C2DB4"/>
          </a:solidFill>
          <a:ln w="12700">
            <a:solidFill>
              <a:srgbClr val="6C2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8580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6060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356616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52628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Construire une hiérarchie visuelle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" y="3246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D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Position, taille, couleur et espace définissent l’ordre de lecture.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6217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Data &amp; Intelligence artificielle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Layout en Z : lecture synthétique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Adapté aux pages simples avec quelques zones fortement hiérarchisées.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640080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37360"/>
            <a:ext cx="15087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744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8074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80744" y="24597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737360"/>
            <a:ext cx="15087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7238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38 %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72384" y="24597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pts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15087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402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4,2 %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64024" y="24597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-0,8 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34440" y="2971800"/>
            <a:ext cx="489204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3099816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 principale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00200" y="5001768"/>
            <a:ext cx="427024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3474720"/>
            <a:ext cx="0" cy="152704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1572768"/>
            <a:ext cx="5303520" cy="0"/>
          </a:xfrm>
          <a:prstGeom prst="line">
            <a:avLst/>
          </a:prstGeom>
          <a:noFill/>
          <a:ln w="25400">
            <a:solidFill>
              <a:srgbClr val="F28A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1075509" y="1563697"/>
            <a:ext cx="5270500" cy="3940991"/>
          </a:xfrm>
          <a:prstGeom prst="line">
            <a:avLst/>
          </a:prstGeom>
          <a:noFill/>
          <a:ln w="25400">
            <a:solidFill>
              <a:srgbClr val="F28A6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51560" y="5504688"/>
            <a:ext cx="5303520" cy="0"/>
          </a:xfrm>
          <a:prstGeom prst="line">
            <a:avLst/>
          </a:prstGeom>
          <a:noFill/>
          <a:ln w="25400">
            <a:solidFill>
              <a:srgbClr val="F28A6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09560" y="173736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1737360"/>
            <a:ext cx="54864" cy="109728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0728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Usage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10728" y="2249424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exécutive, overview, landing page.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7909560" y="310896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9560" y="3108960"/>
            <a:ext cx="54864" cy="1417320"/>
          </a:xfrm>
          <a:prstGeom prst="rect">
            <a:avLst/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Force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110728" y="3621024"/>
            <a:ext cx="29260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rapide, message central très visible.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7909560" y="48006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4800600"/>
            <a:ext cx="54864" cy="91440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4965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Attention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110728" y="5312664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Peu adapté si la page contient beaucoup de détails.</a:t>
            </a:r>
            <a:endParaRPr lang="en-US" sz="114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EAEB887A-FCF6-9CDE-B5DD-66F77F4F54E5}"/>
              </a:ext>
            </a:extLst>
          </p:cNvPr>
          <p:cNvSpPr/>
          <p:nvPr/>
        </p:nvSpPr>
        <p:spPr>
          <a:xfrm>
            <a:off x="1625238" y="4654676"/>
            <a:ext cx="595457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46" name="Shape 34">
            <a:extLst>
              <a:ext uri="{FF2B5EF4-FFF2-40B4-BE49-F238E27FC236}">
                <a16:creationId xmlns:a16="http://schemas.microsoft.com/office/drawing/2014/main" id="{B8B9FA80-86B5-0D19-0886-722E21F8C0E7}"/>
              </a:ext>
            </a:extLst>
          </p:cNvPr>
          <p:cNvSpPr/>
          <p:nvPr/>
        </p:nvSpPr>
        <p:spPr>
          <a:xfrm flipV="1">
            <a:off x="2229766" y="4592112"/>
            <a:ext cx="595457" cy="55364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48" name="Shape 35">
            <a:extLst>
              <a:ext uri="{FF2B5EF4-FFF2-40B4-BE49-F238E27FC236}">
                <a16:creationId xmlns:a16="http://schemas.microsoft.com/office/drawing/2014/main" id="{0FA1A3A7-FAAC-6600-7F24-98004CD67C8C}"/>
              </a:ext>
            </a:extLst>
          </p:cNvPr>
          <p:cNvSpPr/>
          <p:nvPr/>
        </p:nvSpPr>
        <p:spPr>
          <a:xfrm>
            <a:off x="2816153" y="4601183"/>
            <a:ext cx="595457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50" name="Shape 36">
            <a:extLst>
              <a:ext uri="{FF2B5EF4-FFF2-40B4-BE49-F238E27FC236}">
                <a16:creationId xmlns:a16="http://schemas.microsoft.com/office/drawing/2014/main" id="{BA4F2DC3-D444-23E5-7ACA-1BE643C51399}"/>
              </a:ext>
            </a:extLst>
          </p:cNvPr>
          <p:cNvSpPr/>
          <p:nvPr/>
        </p:nvSpPr>
        <p:spPr>
          <a:xfrm flipV="1">
            <a:off x="3438824" y="4410238"/>
            <a:ext cx="541029" cy="191435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52" name="Shape 37">
            <a:extLst>
              <a:ext uri="{FF2B5EF4-FFF2-40B4-BE49-F238E27FC236}">
                <a16:creationId xmlns:a16="http://schemas.microsoft.com/office/drawing/2014/main" id="{5CA67FAB-3BBC-21A9-CA97-90D3F0BE59BF}"/>
              </a:ext>
            </a:extLst>
          </p:cNvPr>
          <p:cNvSpPr/>
          <p:nvPr/>
        </p:nvSpPr>
        <p:spPr>
          <a:xfrm flipV="1">
            <a:off x="3997996" y="4147167"/>
            <a:ext cx="669889" cy="26307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54" name="Shape 38">
            <a:extLst>
              <a:ext uri="{FF2B5EF4-FFF2-40B4-BE49-F238E27FC236}">
                <a16:creationId xmlns:a16="http://schemas.microsoft.com/office/drawing/2014/main" id="{F587BB45-A53D-C18A-F398-5B973564C0E3}"/>
              </a:ext>
            </a:extLst>
          </p:cNvPr>
          <p:cNvSpPr/>
          <p:nvPr/>
        </p:nvSpPr>
        <p:spPr>
          <a:xfrm>
            <a:off x="4676957" y="4147656"/>
            <a:ext cx="669889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Layout en F : lecture analytique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Adapté aux pages plus denses, parcourues de haut en bas puis de gauche à droite.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640080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37360"/>
            <a:ext cx="15087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744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8074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80744" y="24597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737360"/>
            <a:ext cx="15087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7238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38 %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72384" y="24597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pts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15087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402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4,2 %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64024" y="24597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-0,8 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34440" y="2880360"/>
            <a:ext cx="292608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300837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00200" y="4681728"/>
            <a:ext cx="230428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3383280"/>
            <a:ext cx="0" cy="129844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64792" y="4097426"/>
            <a:ext cx="241402" cy="584302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5650" y="3746845"/>
            <a:ext cx="241402" cy="934883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86507" y="3967582"/>
            <a:ext cx="241402" cy="714146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47365" y="3539094"/>
            <a:ext cx="241402" cy="1142634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8222" y="3876690"/>
            <a:ext cx="241402" cy="805038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2880360"/>
            <a:ext cx="1828800" cy="2057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300837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4681728"/>
            <a:ext cx="120700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383280"/>
            <a:ext cx="0" cy="129844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4318163"/>
            <a:ext cx="193121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4911352" y="4235098"/>
            <a:ext cx="165908" cy="71148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068189" y="4235097"/>
            <a:ext cx="193121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5252239" y="4014361"/>
            <a:ext cx="265692" cy="216292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5536074" y="3996218"/>
            <a:ext cx="217261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5762408" y="3846631"/>
            <a:ext cx="208189" cy="145142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51560" y="1572768"/>
            <a:ext cx="5303520" cy="0"/>
          </a:xfrm>
          <a:prstGeom prst="line">
            <a:avLst/>
          </a:prstGeom>
          <a:noFill/>
          <a:ln w="25400">
            <a:solidFill>
              <a:srgbClr val="F28A6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51560" y="1572768"/>
            <a:ext cx="0" cy="3886200"/>
          </a:xfrm>
          <a:prstGeom prst="line">
            <a:avLst/>
          </a:prstGeom>
          <a:noFill/>
          <a:ln w="25400">
            <a:solidFill>
              <a:srgbClr val="F28A6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51560" y="2743200"/>
            <a:ext cx="3383280" cy="0"/>
          </a:xfrm>
          <a:prstGeom prst="line">
            <a:avLst/>
          </a:prstGeom>
          <a:noFill/>
          <a:ln w="25400">
            <a:solidFill>
              <a:srgbClr val="F28A6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909560" y="173736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1737360"/>
            <a:ext cx="54864" cy="109728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0728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Usage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110728" y="2249424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détaillée, exploration, segmentation.</a:t>
            </a:r>
            <a:endParaRPr lang="en-US" sz="1140" dirty="0"/>
          </a:p>
        </p:txBody>
      </p:sp>
      <p:sp>
        <p:nvSpPr>
          <p:cNvPr id="43" name="Shape 41"/>
          <p:cNvSpPr/>
          <p:nvPr/>
        </p:nvSpPr>
        <p:spPr>
          <a:xfrm>
            <a:off x="7909560" y="310896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09560" y="3108960"/>
            <a:ext cx="54864" cy="1417320"/>
          </a:xfrm>
          <a:prstGeom prst="rect">
            <a:avLst/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10728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Force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110728" y="3621024"/>
            <a:ext cx="29260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Permet plusieurs niveaux de détail tout en gardant une lecture naturelle.</a:t>
            </a:r>
            <a:endParaRPr lang="en-US" sz="1140" dirty="0"/>
          </a:p>
        </p:txBody>
      </p:sp>
      <p:sp>
        <p:nvSpPr>
          <p:cNvPr id="47" name="Shape 45"/>
          <p:cNvSpPr/>
          <p:nvPr/>
        </p:nvSpPr>
        <p:spPr>
          <a:xfrm>
            <a:off x="7909560" y="48006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4800600"/>
            <a:ext cx="54864" cy="91440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10728" y="4965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Attention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8110728" y="5312664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Nécessite une grille et des alignements rigoureux.</a:t>
            </a:r>
            <a:endParaRPr lang="en-US" sz="114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Taille et couleur sont des vecteurs de priorité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accent visuel doit avoir une fonction claire.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65276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28222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205623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 nette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43584" y="231227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18,2 %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43584" y="265059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2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-3,1 pts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2048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3864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83864" y="26426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66360" y="192024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2048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12664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12 840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312664" y="26426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+8 %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3154680"/>
            <a:ext cx="566928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282696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 dans le temps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463040" y="4956048"/>
            <a:ext cx="504748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657600"/>
            <a:ext cx="0" cy="129844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4592483"/>
            <a:ext cx="807598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2270638" y="4554775"/>
            <a:ext cx="807598" cy="34863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078236" y="4554774"/>
            <a:ext cx="807598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3894905" y="4306824"/>
            <a:ext cx="789456" cy="234435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693432" y="4306824"/>
            <a:ext cx="908548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5629194" y="4030236"/>
            <a:ext cx="872263" cy="272143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498080" y="187452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874520"/>
            <a:ext cx="54864" cy="114300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2039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· Taille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699248" y="2386584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KPI critique est plus grand.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498080" y="3291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3291840"/>
            <a:ext cx="54864" cy="1143000"/>
          </a:xfrm>
          <a:prstGeom prst="rect">
            <a:avLst/>
          </a:prstGeom>
          <a:solidFill>
            <a:srgbClr val="D25B63"/>
          </a:solidFill>
          <a:ln w="12700">
            <a:solidFill>
              <a:srgbClr val="D25B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 · Couleur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699248" y="3803904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rouge signale une exception ou un écart.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7498080" y="470916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709160"/>
            <a:ext cx="54864" cy="77724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4873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 · Position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699248" y="5221224"/>
            <a:ext cx="2926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haut gauche reçoit la première attention.</a:t>
            </a:r>
            <a:endParaRPr lang="en-US" sz="114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6C2DB4"/>
          </a:solidFill>
          <a:ln w="12700">
            <a:solidFill>
              <a:srgbClr val="6C2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8580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6060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356616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52628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Choisir le bon graphique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" y="3246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D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type de graphique dépend d’abord de la question métier.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6217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Data &amp; Intelligence artificielle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Matrice de décision des visuels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Choisir un graphique selon la nature de la question, pas selon la préférence esthétique.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35640" cy="4526280"/>
          </a:xfrm>
          <a:prstGeom prst="roundRect">
            <a:avLst>
              <a:gd name="adj" fmla="val 60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54680" y="1600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VISUEL PRIVILÉGIÉ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0" y="1600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10607040" cy="475488"/>
          </a:xfrm>
          <a:prstGeom prst="rect">
            <a:avLst/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Combien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/ KPI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actuelle, objectif, variation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496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24963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chart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49631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 dans le temps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953512"/>
            <a:ext cx="10607040" cy="475488"/>
          </a:xfrm>
          <a:prstGeom prst="rect">
            <a:avLst/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266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3026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302666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Écarts entre catégories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5570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Répartition 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355701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/ treemap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55701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d’un ensemble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014216"/>
            <a:ext cx="10607040" cy="475488"/>
          </a:xfrm>
          <a:prstGeom prst="rect">
            <a:avLst/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40873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Histogramme / boxplot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40873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Dispersion, médiane, outliers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 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54680" y="46177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617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 entre deux variables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48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Détail 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51480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/ matrix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51480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précise et audit</a:t>
            </a:r>
            <a:endParaRPr lang="en-US" sz="11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Comparer ou suivre une évolution 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questions proches appellent souvent deux visuels différents.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507492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3677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des régions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34440" y="4498848"/>
            <a:ext cx="445312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11680"/>
            <a:ext cx="0" cy="248716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3379622"/>
            <a:ext cx="671170" cy="1119226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9658" y="2708087"/>
            <a:ext cx="671170" cy="1790761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0283" y="3130906"/>
            <a:ext cx="671170" cy="1367942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70909" y="2310140"/>
            <a:ext cx="671170" cy="2188708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1534" y="2956804"/>
            <a:ext cx="671170" cy="1542044"/>
          </a:xfrm>
          <a:prstGeom prst="rect">
            <a:avLst/>
          </a:prstGeom>
          <a:solidFill>
            <a:srgbClr val="5B1AA6">
              <a:alpha val="82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08760"/>
            <a:ext cx="507492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3677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Suivre le CA dans le temps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4498848"/>
            <a:ext cx="445312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011680"/>
            <a:ext cx="0" cy="248716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802441"/>
            <a:ext cx="71250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7296180" y="3687154"/>
            <a:ext cx="703429" cy="12057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008681" y="3678083"/>
            <a:ext cx="71250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8730252" y="3255264"/>
            <a:ext cx="676215" cy="419927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9424610" y="2919622"/>
            <a:ext cx="774350" cy="32657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10208031" y="2907658"/>
            <a:ext cx="828777" cy="9072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05840" y="5074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Bar chart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31720" y="5074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des catégories grâce à une base commune.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355080" y="5074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A19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Line chart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6680" y="5074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en évidence tendance, rupture et saisonnalité.</a:t>
            </a:r>
            <a:endParaRPr lang="en-US" sz="12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Répartition : attention aux parts de l’ensemble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priorité reste la comparabilité des valeurs.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Barres horizontales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2450592"/>
            <a:ext cx="2474366" cy="201168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035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3017520"/>
            <a:ext cx="1840687" cy="201168"/>
          </a:xfrm>
          <a:prstGeom prst="rect">
            <a:avLst/>
          </a:prstGeom>
          <a:solidFill>
            <a:srgbClr val="5B1AA6">
              <a:alpha val="90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027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3584448"/>
            <a:ext cx="1146658" cy="201168"/>
          </a:xfrm>
          <a:prstGeom prst="rect">
            <a:avLst/>
          </a:prstGeom>
          <a:solidFill>
            <a:srgbClr val="5B1AA6">
              <a:alpha val="80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69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4151376"/>
            <a:ext cx="663854" cy="201168"/>
          </a:xfrm>
          <a:prstGeom prst="rect">
            <a:avLst/>
          </a:prstGeom>
          <a:solidFill>
            <a:srgbClr val="5B1AA6">
              <a:alpha val="70000"/>
            </a:srgbClr>
          </a:solidFill>
          <a:ln w="12700">
            <a:solidFill>
              <a:srgbClr val="5B1AA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554480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Treemap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377440"/>
            <a:ext cx="2651760" cy="2011680"/>
          </a:xfrm>
          <a:prstGeom prst="rect">
            <a:avLst/>
          </a:prstGeom>
          <a:solidFill>
            <a:srgbClr val="5B1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Web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35440" y="2377440"/>
            <a:ext cx="1691640" cy="1188720"/>
          </a:xfrm>
          <a:prstGeom prst="rect">
            <a:avLst/>
          </a:prstGeom>
          <a:solidFill>
            <a:srgbClr val="7E3B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3566160"/>
            <a:ext cx="1051560" cy="822960"/>
          </a:xfrm>
          <a:prstGeom prst="rect">
            <a:avLst/>
          </a:prstGeom>
          <a:solidFill>
            <a:srgbClr val="9C6B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87000" y="3566160"/>
            <a:ext cx="640080" cy="822960"/>
          </a:xfrm>
          <a:prstGeom prst="rect">
            <a:avLst/>
          </a:prstGeom>
          <a:solidFill>
            <a:srgbClr val="C1A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52852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peu de catégories, les barres restent généralement plus faciles à comparer.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Relation et distribution : montrer la structure des données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visuels servent à comprendre des comportements, pas uniquement des totaux.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507492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8249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Prix vs volume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34440" y="4636008"/>
            <a:ext cx="445312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57400"/>
            <a:ext cx="0" cy="257860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4033" y="3868278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0283" y="3610417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5596" y="3739347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2784" y="3352556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9034" y="3507273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5284" y="3120481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71534" y="3223626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16847" y="2914193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2160" y="2785262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7473" y="2475829"/>
            <a:ext cx="91440" cy="91440"/>
          </a:xfrm>
          <a:prstGeom prst="ellipse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78D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Scatter plot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33172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Relation, corrélation, segmentation visuelle, outliers.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507492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des paniers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3986784"/>
            <a:ext cx="347472" cy="402336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9752" y="3624682"/>
            <a:ext cx="347472" cy="764438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98664" y="3141878"/>
            <a:ext cx="347472" cy="1247242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37576" y="2618842"/>
            <a:ext cx="347472" cy="1770278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488" y="2457907"/>
            <a:ext cx="347472" cy="1931213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2900477"/>
            <a:ext cx="347472" cy="1488643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54312" y="3423514"/>
            <a:ext cx="347472" cy="965606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93224" y="3785616"/>
            <a:ext cx="347472" cy="603504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32136" y="4067251"/>
            <a:ext cx="347472" cy="321869"/>
          </a:xfrm>
          <a:prstGeom prst="rect">
            <a:avLst/>
          </a:prstGeom>
          <a:solidFill>
            <a:srgbClr val="F28A63">
              <a:alpha val="90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4389120"/>
            <a:ext cx="4160520" cy="0"/>
          </a:xfrm>
          <a:prstGeom prst="line">
            <a:avLst/>
          </a:prstGeom>
          <a:noFill/>
          <a:ln w="12700">
            <a:solidFill>
              <a:srgbClr val="C9C5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166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A6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Histogramme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00100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Dispersion, concentration, asymétrie, valeurs atypiques.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table reste un excellent visuel quand le détail compte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est adaptée à la lecture précise, au contrôle et à l’audit.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649224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828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N-1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828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2304288"/>
            <a:ext cx="6080760" cy="438912"/>
          </a:xfrm>
          <a:prstGeom prst="rect">
            <a:avLst/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404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651760" y="2404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640 k€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160520" y="2404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+8 %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669280" y="2404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41 %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143000" y="30175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651760" y="30175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510 k€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160520" y="30175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25B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-6 %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5669280" y="30175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32 %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1051560" y="3529584"/>
            <a:ext cx="6080760" cy="438912"/>
          </a:xfrm>
          <a:prstGeom prst="rect">
            <a:avLst/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630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2651760" y="3630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470 k€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160520" y="3630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+4 %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669280" y="3630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37 %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1143000" y="42428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Ouest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2651760" y="42428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780 k€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4160520" y="42428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+15 %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5669280" y="42428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42 %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7909560" y="169164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1691640"/>
            <a:ext cx="54864" cy="1051560"/>
          </a:xfrm>
          <a:prstGeom prst="rect">
            <a:avLst/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856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À privilégier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110728" y="2203704"/>
            <a:ext cx="28346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 exacte · lookup · détail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909560" y="306324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3063240"/>
            <a:ext cx="54864" cy="105156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3227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À éviter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110728" y="3575304"/>
            <a:ext cx="28346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une table pour raconter une tendance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7909560" y="443484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9560" y="4434840"/>
            <a:ext cx="54864" cy="105156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0728" y="4599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Bon réflexe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110728" y="4946904"/>
            <a:ext cx="28346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limiter les colonnes et mettre en forme les exceptions</a:t>
            </a:r>
            <a:endParaRPr lang="en-US" sz="114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6C2DB4"/>
          </a:solidFill>
          <a:ln w="12700">
            <a:solidFill>
              <a:srgbClr val="6C2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8580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6060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356616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D55C8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52628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A174D0">
              <a:alpha val="90000"/>
            </a:srgbClr>
          </a:solidFill>
          <a:ln w="12700">
            <a:solidFill>
              <a:srgbClr val="8D55C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Couleur et accessibilité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04088" y="3246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D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couleur doit informer, rester cohérente et ne jamais être le seul canal de lecture.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6217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 Data &amp; Intelligence artificielle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Construire une palette cohérente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palette efficace utilise peu de couleurs et leur donne un rôle stable.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658368" cy="658368"/>
          </a:xfrm>
          <a:prstGeom prst="roundRect">
            <a:avLst>
              <a:gd name="adj" fmla="val 4167"/>
            </a:avLst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609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Couleur principale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86200" y="16093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Navigation, élément prioritaire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350008"/>
            <a:ext cx="658368" cy="658368"/>
          </a:xfrm>
          <a:prstGeom prst="roundRect">
            <a:avLst>
              <a:gd name="adj" fmla="val 4167"/>
            </a:avLst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450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Accent positif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Progression, objectif atteint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191256"/>
            <a:ext cx="658368" cy="658368"/>
          </a:xfrm>
          <a:prstGeom prst="roundRect">
            <a:avLst>
              <a:gd name="adj" fmla="val 4167"/>
            </a:avLst>
          </a:prstGeom>
          <a:solidFill>
            <a:srgbClr val="D25B63"/>
          </a:solidFill>
          <a:ln w="12700">
            <a:solidFill>
              <a:srgbClr val="D25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300911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Accent négatif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32918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Alerte, écart défavorable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32504"/>
            <a:ext cx="658368" cy="658368"/>
          </a:xfrm>
          <a:prstGeom prst="roundRect">
            <a:avLst>
              <a:gd name="adj" fmla="val 4167"/>
            </a:avLst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133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Accent neutre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41330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secondaire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873752"/>
            <a:ext cx="658368" cy="658368"/>
          </a:xfrm>
          <a:prstGeom prst="roundRect">
            <a:avLst>
              <a:gd name="adj" fmla="val 4167"/>
            </a:avLst>
          </a:prstGeom>
          <a:solidFill>
            <a:srgbClr val="B7B3C0"/>
          </a:solidFill>
          <a:ln w="12700">
            <a:solidFill>
              <a:srgbClr val="B7B3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9743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49743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Axes, repères, éléments de contexte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1508760"/>
            <a:ext cx="1965960" cy="40233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828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Principe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64040" y="2468880"/>
            <a:ext cx="13258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même couleur doit conserver la même signification sur tout le rapport.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Accessibilité : ne jamais coder une information uniquement par la couleur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59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dashboard doit rester compréhensible même si la perception des couleurs varie.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5B6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À éviter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48056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560320"/>
            <a:ext cx="502920" cy="502920"/>
          </a:xfrm>
          <a:prstGeom prst="ellipse">
            <a:avLst/>
          </a:prstGeom>
          <a:solidFill>
            <a:srgbClr val="42A36A"/>
          </a:solidFill>
          <a:ln w="12700">
            <a:solidFill>
              <a:srgbClr val="42A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atteint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3154680"/>
            <a:ext cx="502920" cy="502920"/>
          </a:xfrm>
          <a:prstGeom prst="ellipse">
            <a:avLst/>
          </a:prstGeom>
          <a:solidFill>
            <a:srgbClr val="D25B63"/>
          </a:solidFill>
          <a:ln w="12700">
            <a:solidFill>
              <a:srgbClr val="D25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32278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non atteint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couleur seule porte le sens.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36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À privilégier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461772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2A36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78040" y="2624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Atteint · +8 %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5B6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78040" y="3227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 · -6 %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Couleur + symbole + texte + valeur.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26080" y="5074920"/>
            <a:ext cx="6217920" cy="329184"/>
          </a:xfrm>
          <a:prstGeom prst="roundRect">
            <a:avLst>
              <a:gd name="adj" fmla="val 22222"/>
            </a:avLst>
          </a:prstGeom>
          <a:solidFill>
            <a:srgbClr val="EDE3F8"/>
          </a:solidFill>
          <a:ln w="12700">
            <a:solidFill>
              <a:srgbClr val="EDE3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5138928"/>
            <a:ext cx="607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1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suffisant · libellés explicites · éléments lisibles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Les anti-patterns les plus fréquents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dashboard devient difficile à lire quand il empile des décisions visuelles incohérentes.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" cy="1143000"/>
          </a:xfrm>
          <a:prstGeom prst="rect">
            <a:avLst/>
          </a:prstGeom>
          <a:solidFill>
            <a:srgbClr val="D25B63"/>
          </a:solidFill>
          <a:ln w="12700">
            <a:solidFill>
              <a:srgbClr val="D25B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81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Trop de couleurs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86968" y="1929384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couleur perd sa fonction de signal.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54864" cy="1143000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81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Trop de KPI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10528" y="1929384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L’utilisateur ne sait plus quoi prioriser.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54864" cy="1143000"/>
          </a:xfrm>
          <a:prstGeom prst="rect">
            <a:avLst/>
          </a:prstGeom>
          <a:solidFill>
            <a:srgbClr val="625F70"/>
          </a:solidFill>
          <a:ln w="12700">
            <a:solidFill>
              <a:srgbClr val="625F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999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Visuels décoratifs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86968" y="3346704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occupent de l’espace sans ajouter d’information.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834640"/>
            <a:ext cx="54864" cy="1143000"/>
          </a:xfrm>
          <a:prstGeom prst="rect">
            <a:avLst/>
          </a:prstGeom>
          <a:solidFill>
            <a:srgbClr val="4A78D0"/>
          </a:solidFill>
          <a:ln w="12700">
            <a:solidFill>
              <a:srgbClr val="4A7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999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Axes trompeurs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0528" y="3346704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déforment la perception des écarts.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51960"/>
            <a:ext cx="54864" cy="1143000"/>
          </a:xfrm>
          <a:prstGeom prst="rect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416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Titres génériques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86968" y="4764024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décrivent le graphique mais pas le message.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6309360" y="425196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251960"/>
            <a:ext cx="54864" cy="1143000"/>
          </a:xfrm>
          <a:prstGeom prst="rect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416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Densité excessive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4764024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L’exploration remplace la compréhension rapide.</a:t>
            </a:r>
            <a:endParaRPr lang="en-US" sz="114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Checklist de conception avant d’ouvrir Power BI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bonne page peut être esquissée sur papier avant d’être construite.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453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90472" y="151703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Utilisateur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34640" y="14081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 va lire cette page 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5453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76872" y="151703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Décision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1040" y="14081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 décision doit-elle faciliter 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968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90472" y="245973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KPIs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24597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Quels indicateurs répondent à cette décision 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46888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5968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577665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Hiérarchie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21040" y="24597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doit-on voir en 5 secondes 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52044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484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90472" y="3647367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Visuels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34640" y="360201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 graphique correspond à chaque question 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6484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76872" y="3629225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Layout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21040" y="35112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ou F ? Où placer les éléments prioritaires 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57200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000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90472" y="467171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Couleur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834640" y="45628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Quels rôles donner aux couleurs 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572000"/>
            <a:ext cx="512064" cy="512064"/>
          </a:xfrm>
          <a:prstGeom prst="ellipse">
            <a:avLst/>
          </a:prstGeom>
          <a:solidFill>
            <a:srgbClr val="5B1AA6"/>
          </a:solidFill>
          <a:ln w="12700">
            <a:solidFill>
              <a:srgbClr val="5B1A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7000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6872" y="467171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Accessibilité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21040" y="45628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message reste-t-il lisible sans la couleur 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11680" y="5486400"/>
            <a:ext cx="8183880" cy="685800"/>
          </a:xfrm>
          <a:prstGeom prst="roundRect">
            <a:avLst>
              <a:gd name="adj" fmla="val 5333"/>
            </a:avLst>
          </a:prstGeom>
          <a:solidFill>
            <a:srgbClr val="EDE3F8"/>
          </a:solidFill>
          <a:ln w="12700">
            <a:solidFill>
              <a:srgbClr val="EDE3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56967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1A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 design vient après la question métier — jamais avant.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77758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5B1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6949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bon dashboard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fait comprendre avant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 faire explorer.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40690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DC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Intention → hiérarchie → bon visuel → cohérence → accessibilité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CC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 : structurer un récit analytique</a:t>
            </a:r>
            <a:endParaRPr lang="en-US" sz="115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533588D2-AD75-9861-E84B-807DB28A1ACC}"/>
              </a:ext>
            </a:extLst>
          </p:cNvPr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6F2DB5"/>
          </a:solidFill>
          <a:ln w="12700">
            <a:solidFill>
              <a:srgbClr val="6F2DB5"/>
            </a:solidFill>
            <a:prstDash val="solid"/>
          </a:ln>
        </p:spPr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8CB434CC-53F3-962E-D0DF-81D2862F29D4}"/>
              </a:ext>
            </a:extLst>
          </p:cNvPr>
          <p:cNvSpPr/>
          <p:nvPr/>
        </p:nvSpPr>
        <p:spPr>
          <a:xfrm>
            <a:off x="8549640" y="914400"/>
            <a:ext cx="3063240" cy="4800600"/>
          </a:xfrm>
          <a:prstGeom prst="roundRect">
            <a:avLst>
              <a:gd name="adj" fmla="val 1791"/>
            </a:avLst>
          </a:prstGeom>
          <a:solidFill>
            <a:srgbClr val="F8F7FB"/>
          </a:solidFill>
          <a:ln w="12700">
            <a:solidFill>
              <a:srgbClr val="F8F7FB"/>
            </a:solidFill>
            <a:prstDash val="solid"/>
          </a:ln>
        </p:spPr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E94F72EB-EE3B-EDEE-4D7A-578EC2567011}"/>
              </a:ext>
            </a:extLst>
          </p:cNvPr>
          <p:cNvSpPr/>
          <p:nvPr/>
        </p:nvSpPr>
        <p:spPr>
          <a:xfrm>
            <a:off x="8823960" y="1234440"/>
            <a:ext cx="1143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0122B7B0-5B6F-6E53-AA98-12CC5FB01F26}"/>
              </a:ext>
            </a:extLst>
          </p:cNvPr>
          <p:cNvSpPr/>
          <p:nvPr/>
        </p:nvSpPr>
        <p:spPr>
          <a:xfrm>
            <a:off x="897026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</a:t>
            </a:r>
            <a:endParaRPr lang="en-US" sz="95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F9D1989-78EF-EB9A-48B2-BF94B48ABB73}"/>
              </a:ext>
            </a:extLst>
          </p:cNvPr>
          <p:cNvSpPr/>
          <p:nvPr/>
        </p:nvSpPr>
        <p:spPr>
          <a:xfrm>
            <a:off x="8970264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2,4 M€</a:t>
            </a:r>
            <a:endParaRPr lang="en-US" sz="19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C54B71B7-38D9-58D5-FAAF-8DF603A87191}"/>
              </a:ext>
            </a:extLst>
          </p:cNvPr>
          <p:cNvSpPr/>
          <p:nvPr/>
        </p:nvSpPr>
        <p:spPr>
          <a:xfrm>
            <a:off x="8970264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</a:t>
            </a:r>
            <a:endParaRPr lang="en-US" sz="95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70DC8105-84D3-C16A-9A72-DC348DACF0BE}"/>
              </a:ext>
            </a:extLst>
          </p:cNvPr>
          <p:cNvSpPr/>
          <p:nvPr/>
        </p:nvSpPr>
        <p:spPr>
          <a:xfrm>
            <a:off x="10104120" y="1234440"/>
            <a:ext cx="1143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D7ABE070-3C36-43AB-D820-FBCABDB3F493}"/>
              </a:ext>
            </a:extLst>
          </p:cNvPr>
          <p:cNvSpPr/>
          <p:nvPr/>
        </p:nvSpPr>
        <p:spPr>
          <a:xfrm>
            <a:off x="10250424" y="1362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5F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</a:t>
            </a:r>
            <a:endParaRPr lang="en-US" sz="9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8516F9EB-8338-1A82-3982-798E2F0A125F}"/>
              </a:ext>
            </a:extLst>
          </p:cNvPr>
          <p:cNvSpPr/>
          <p:nvPr/>
        </p:nvSpPr>
        <p:spPr>
          <a:xfrm>
            <a:off x="10250424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D2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38 %</a:t>
            </a:r>
            <a:endParaRPr lang="en-US" sz="19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02BD0775-AF86-4540-589D-8A37D3D2FBAD}"/>
              </a:ext>
            </a:extLst>
          </p:cNvPr>
          <p:cNvSpPr/>
          <p:nvPr/>
        </p:nvSpPr>
        <p:spPr>
          <a:xfrm>
            <a:off x="10250424" y="19568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2A3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+2,1 pts</a:t>
            </a:r>
            <a:endParaRPr lang="en-US" sz="95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FC12A3DE-806B-C79D-1B61-34907124DB11}"/>
              </a:ext>
            </a:extLst>
          </p:cNvPr>
          <p:cNvSpPr/>
          <p:nvPr/>
        </p:nvSpPr>
        <p:spPr>
          <a:xfrm>
            <a:off x="8823960" y="2514600"/>
            <a:ext cx="242316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9818D02A-F34C-45A5-6F03-810BD37802DC}"/>
              </a:ext>
            </a:extLst>
          </p:cNvPr>
          <p:cNvSpPr/>
          <p:nvPr/>
        </p:nvSpPr>
        <p:spPr>
          <a:xfrm>
            <a:off x="8988552" y="264261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Évolution du CA</a:t>
            </a:r>
            <a:endParaRPr lang="en-US" sz="105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CA4E15D8-31C4-CFB0-E08B-8B68C1F7C9C0}"/>
              </a:ext>
            </a:extLst>
          </p:cNvPr>
          <p:cNvSpPr/>
          <p:nvPr/>
        </p:nvSpPr>
        <p:spPr>
          <a:xfrm>
            <a:off x="9189720" y="3721608"/>
            <a:ext cx="180136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7C0776E8-FEED-3CB5-26C9-6556BBD69004}"/>
              </a:ext>
            </a:extLst>
          </p:cNvPr>
          <p:cNvSpPr/>
          <p:nvPr/>
        </p:nvSpPr>
        <p:spPr>
          <a:xfrm>
            <a:off x="9189720" y="3017520"/>
            <a:ext cx="0" cy="70408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45AD15B9-4DF5-3F79-7E54-A643C31938E2}"/>
              </a:ext>
            </a:extLst>
          </p:cNvPr>
          <p:cNvSpPr/>
          <p:nvPr/>
        </p:nvSpPr>
        <p:spPr>
          <a:xfrm flipV="1">
            <a:off x="9199880" y="3453343"/>
            <a:ext cx="288219" cy="7112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89DD791B-DB57-2E0E-2257-3BA9006CF098}"/>
              </a:ext>
            </a:extLst>
          </p:cNvPr>
          <p:cNvSpPr/>
          <p:nvPr/>
        </p:nvSpPr>
        <p:spPr>
          <a:xfrm>
            <a:off x="9477939" y="3454055"/>
            <a:ext cx="288219" cy="35204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5314386C-E465-695D-D413-3422DF405438}"/>
              </a:ext>
            </a:extLst>
          </p:cNvPr>
          <p:cNvSpPr/>
          <p:nvPr/>
        </p:nvSpPr>
        <p:spPr>
          <a:xfrm>
            <a:off x="9766158" y="3489259"/>
            <a:ext cx="288219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E85DB44D-D019-FDE6-62A9-DEF9C88BF0B6}"/>
              </a:ext>
            </a:extLst>
          </p:cNvPr>
          <p:cNvSpPr/>
          <p:nvPr/>
        </p:nvSpPr>
        <p:spPr>
          <a:xfrm flipV="1">
            <a:off x="10054377" y="3400044"/>
            <a:ext cx="278059" cy="86716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54E52D44-8A68-7454-B9B6-8F4CE4A47547}"/>
              </a:ext>
            </a:extLst>
          </p:cNvPr>
          <p:cNvSpPr/>
          <p:nvPr/>
        </p:nvSpPr>
        <p:spPr>
          <a:xfrm>
            <a:off x="10342596" y="3389884"/>
            <a:ext cx="324246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24F44E74-C6A6-E202-8EDE-30FE1D083702}"/>
              </a:ext>
            </a:extLst>
          </p:cNvPr>
          <p:cNvSpPr/>
          <p:nvPr/>
        </p:nvSpPr>
        <p:spPr>
          <a:xfrm>
            <a:off x="10636362" y="3387385"/>
            <a:ext cx="324246" cy="0"/>
          </a:xfrm>
          <a:prstGeom prst="line">
            <a:avLst/>
          </a:prstGeom>
          <a:noFill/>
          <a:ln w="38100">
            <a:solidFill>
              <a:srgbClr val="5B1AA6"/>
            </a:solidFill>
            <a:prstDash val="solid"/>
            <a:headEnd type="none"/>
            <a:tailEnd type="none"/>
          </a:ln>
        </p:spPr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BCEA4C6B-B63C-D95F-D30E-46C29E67DF30}"/>
              </a:ext>
            </a:extLst>
          </p:cNvPr>
          <p:cNvSpPr/>
          <p:nvPr/>
        </p:nvSpPr>
        <p:spPr>
          <a:xfrm>
            <a:off x="8823960" y="4160520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4EC"/>
            </a:solidFill>
            <a:prstDash val="solid"/>
          </a:ln>
        </p:spPr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A21374DF-A983-809E-1345-9FB7A230C031}"/>
              </a:ext>
            </a:extLst>
          </p:cNvPr>
          <p:cNvSpPr/>
          <p:nvPr/>
        </p:nvSpPr>
        <p:spPr>
          <a:xfrm>
            <a:off x="8988552" y="428853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D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Ventes par région</a:t>
            </a:r>
            <a:endParaRPr lang="en-US" sz="1050" dirty="0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9623F3D8-626B-AC4D-EB57-42BC866FBBDC}"/>
              </a:ext>
            </a:extLst>
          </p:cNvPr>
          <p:cNvSpPr/>
          <p:nvPr/>
        </p:nvSpPr>
        <p:spPr>
          <a:xfrm>
            <a:off x="9189720" y="5138928"/>
            <a:ext cx="1801368" cy="0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EA06B83C-8AAC-8B3F-5C16-AFB7431188EB}"/>
              </a:ext>
            </a:extLst>
          </p:cNvPr>
          <p:cNvSpPr/>
          <p:nvPr/>
        </p:nvSpPr>
        <p:spPr>
          <a:xfrm>
            <a:off x="9189720" y="4663440"/>
            <a:ext cx="0" cy="475488"/>
          </a:xfrm>
          <a:prstGeom prst="line">
            <a:avLst/>
          </a:prstGeom>
          <a:noFill/>
          <a:ln w="12700">
            <a:solidFill>
              <a:srgbClr val="CBC8D2"/>
            </a:solidFill>
            <a:prstDash val="solid"/>
          </a:ln>
        </p:spPr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62DD137D-518C-5461-D9F5-6323A5C88EF6}"/>
              </a:ext>
            </a:extLst>
          </p:cNvPr>
          <p:cNvSpPr/>
          <p:nvPr/>
        </p:nvSpPr>
        <p:spPr>
          <a:xfrm>
            <a:off x="9354312" y="4924958"/>
            <a:ext cx="140818" cy="213970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85" name="Shape 25">
            <a:extLst>
              <a:ext uri="{FF2B5EF4-FFF2-40B4-BE49-F238E27FC236}">
                <a16:creationId xmlns:a16="http://schemas.microsoft.com/office/drawing/2014/main" id="{3FBBD7C5-F0DC-FD05-99BF-4B45A8F24F94}"/>
              </a:ext>
            </a:extLst>
          </p:cNvPr>
          <p:cNvSpPr/>
          <p:nvPr/>
        </p:nvSpPr>
        <p:spPr>
          <a:xfrm>
            <a:off x="9714586" y="4796577"/>
            <a:ext cx="140818" cy="342351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87" name="Shape 26">
            <a:extLst>
              <a:ext uri="{FF2B5EF4-FFF2-40B4-BE49-F238E27FC236}">
                <a16:creationId xmlns:a16="http://schemas.microsoft.com/office/drawing/2014/main" id="{FEA15462-A859-C397-9972-5A5F590850D0}"/>
              </a:ext>
            </a:extLst>
          </p:cNvPr>
          <p:cNvSpPr/>
          <p:nvPr/>
        </p:nvSpPr>
        <p:spPr>
          <a:xfrm>
            <a:off x="10074859" y="4877410"/>
            <a:ext cx="140818" cy="261518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89" name="Shape 27">
            <a:extLst>
              <a:ext uri="{FF2B5EF4-FFF2-40B4-BE49-F238E27FC236}">
                <a16:creationId xmlns:a16="http://schemas.microsoft.com/office/drawing/2014/main" id="{6357CAB1-2EC6-C691-0D56-8F1D4949DE37}"/>
              </a:ext>
            </a:extLst>
          </p:cNvPr>
          <p:cNvSpPr/>
          <p:nvPr/>
        </p:nvSpPr>
        <p:spPr>
          <a:xfrm>
            <a:off x="10435133" y="4720499"/>
            <a:ext cx="140818" cy="418429"/>
          </a:xfrm>
          <a:prstGeom prst="rect">
            <a:avLst/>
          </a:prstGeom>
          <a:solidFill>
            <a:srgbClr val="F28A63"/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  <p:sp>
        <p:nvSpPr>
          <p:cNvPr id="91" name="Shape 28">
            <a:extLst>
              <a:ext uri="{FF2B5EF4-FFF2-40B4-BE49-F238E27FC236}">
                <a16:creationId xmlns:a16="http://schemas.microsoft.com/office/drawing/2014/main" id="{DA1B480B-DC71-EC10-8CEF-06E73F0D6078}"/>
              </a:ext>
            </a:extLst>
          </p:cNvPr>
          <p:cNvSpPr/>
          <p:nvPr/>
        </p:nvSpPr>
        <p:spPr>
          <a:xfrm>
            <a:off x="10795406" y="4844125"/>
            <a:ext cx="140818" cy="294803"/>
          </a:xfrm>
          <a:prstGeom prst="rect">
            <a:avLst/>
          </a:prstGeom>
          <a:solidFill>
            <a:srgbClr val="F28A63">
              <a:alpha val="82000"/>
            </a:srgbClr>
          </a:solidFill>
          <a:ln w="12700">
            <a:solidFill>
              <a:srgbClr val="F28A6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NexaCourse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de dashboards — Concevoir avec intention</dc:title>
  <dc:subject>Conception de dashboards - Jour 1, Partie 1</dc:subject>
  <dc:creator>OpenAI</dc:creator>
  <cp:lastModifiedBy>OpenAI</cp:lastModifiedBy>
  <cp:revision>56</cp:revision>
  <dcterms:created xsi:type="dcterms:W3CDTF">2026-09-29T15:20:34Z</dcterms:created>
  <dcterms:modified xsi:type="dcterms:W3CDTF">2026-09-29T16:41:19Z</dcterms:modified>
</cp:coreProperties>
</file>