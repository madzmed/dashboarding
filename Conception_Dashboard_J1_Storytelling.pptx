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31922B-A114-D202-5573-3B3FCC44F69F}" v="117" dt="2026-09-30T14:48:04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RIBEN Mahdi" userId="S::mehdi.lamriben@ynov.com::c0be09ca-ffec-4037-90ee-644dcc05f6bd" providerId="AD" clId="Web-{E031922B-A114-D202-5573-3B3FCC44F69F}"/>
    <pc:docChg chg="delSld modSld">
      <pc:chgData name="LAMRIBEN Mahdi" userId="S::mehdi.lamriben@ynov.com::c0be09ca-ffec-4037-90ee-644dcc05f6bd" providerId="AD" clId="Web-{E031922B-A114-D202-5573-3B3FCC44F69F}" dt="2026-09-30T14:48:04.698" v="120"/>
      <pc:docMkLst>
        <pc:docMk/>
      </pc:docMkLst>
      <pc:sldChg chg="modSp">
        <pc:chgData name="LAMRIBEN Mahdi" userId="S::mehdi.lamriben@ynov.com::c0be09ca-ffec-4037-90ee-644dcc05f6bd" providerId="AD" clId="Web-{E031922B-A114-D202-5573-3B3FCC44F69F}" dt="2026-09-29T16:49:45.803" v="10" actId="1076"/>
        <pc:sldMkLst>
          <pc:docMk/>
          <pc:sldMk cId="0" sldId="256"/>
        </pc:sldMkLst>
        <pc:spChg chg="mod">
          <ac:chgData name="LAMRIBEN Mahdi" userId="S::mehdi.lamriben@ynov.com::c0be09ca-ffec-4037-90ee-644dcc05f6bd" providerId="AD" clId="Web-{E031922B-A114-D202-5573-3B3FCC44F69F}" dt="2026-09-29T16:49:38.271" v="9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49:28.833" v="7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49:20.239" v="5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49:04.363" v="2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48:49.347" v="0" actId="14100"/>
          <ac:spMkLst>
            <pc:docMk/>
            <pc:sldMk cId="0" sldId="256"/>
            <ac:spMk id="24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49:10.223" v="3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49:45.803" v="10" actId="1076"/>
          <ac:spMkLst>
            <pc:docMk/>
            <pc:sldMk cId="0" sldId="256"/>
            <ac:spMk id="26" creationId="{00000000-0000-0000-0000-000000000000}"/>
          </ac:spMkLst>
        </pc:spChg>
      </pc:sldChg>
      <pc:sldChg chg="modSp">
        <pc:chgData name="LAMRIBEN Mahdi" userId="S::mehdi.lamriben@ynov.com::c0be09ca-ffec-4037-90ee-644dcc05f6bd" providerId="AD" clId="Web-{E031922B-A114-D202-5573-3B3FCC44F69F}" dt="2026-09-29T16:52:00.481" v="26" actId="1076"/>
        <pc:sldMkLst>
          <pc:docMk/>
          <pc:sldMk cId="0" sldId="262"/>
        </pc:sldMkLst>
        <pc:spChg chg="mod">
          <ac:chgData name="LAMRIBEN Mahdi" userId="S::mehdi.lamriben@ynov.com::c0be09ca-ffec-4037-90ee-644dcc05f6bd" providerId="AD" clId="Web-{E031922B-A114-D202-5573-3B3FCC44F69F}" dt="2026-09-29T16:52:00.481" v="26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1:35.527" v="21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1:27.948" v="19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1:19.901" v="16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1:17.495" v="15" actId="1076"/>
          <ac:spMkLst>
            <pc:docMk/>
            <pc:sldMk cId="0" sldId="262"/>
            <ac:spMk id="14" creationId="{00000000-0000-0000-0000-000000000000}"/>
          </ac:spMkLst>
        </pc:spChg>
      </pc:sldChg>
      <pc:sldChg chg="modSp">
        <pc:chgData name="LAMRIBEN Mahdi" userId="S::mehdi.lamriben@ynov.com::c0be09ca-ffec-4037-90ee-644dcc05f6bd" providerId="AD" clId="Web-{E031922B-A114-D202-5573-3B3FCC44F69F}" dt="2026-09-29T16:53:59.174" v="46" actId="1076"/>
        <pc:sldMkLst>
          <pc:docMk/>
          <pc:sldMk cId="0" sldId="267"/>
        </pc:sldMkLst>
        <pc:spChg chg="mod">
          <ac:chgData name="LAMRIBEN Mahdi" userId="S::mehdi.lamriben@ynov.com::c0be09ca-ffec-4037-90ee-644dcc05f6bd" providerId="AD" clId="Web-{E031922B-A114-D202-5573-3B3FCC44F69F}" dt="2026-09-29T16:52:47.749" v="28" actId="1076"/>
          <ac:spMkLst>
            <pc:docMk/>
            <pc:sldMk cId="0" sldId="267"/>
            <ac:spMk id="22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2:55.921" v="31" actId="1076"/>
          <ac:spMkLst>
            <pc:docMk/>
            <pc:sldMk cId="0" sldId="267"/>
            <ac:spMk id="23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3:05.234" v="33" actId="107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3:09.484" v="34" actId="14100"/>
          <ac:spMkLst>
            <pc:docMk/>
            <pc:sldMk cId="0" sldId="267"/>
            <ac:spMk id="25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3:17.563" v="36" actId="14100"/>
          <ac:spMkLst>
            <pc:docMk/>
            <pc:sldMk cId="0" sldId="267"/>
            <ac:spMk id="26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3:48.877" v="44" actId="1076"/>
          <ac:spMkLst>
            <pc:docMk/>
            <pc:sldMk cId="0" sldId="267"/>
            <ac:spMk id="27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3:59.174" v="46" actId="1076"/>
          <ac:spMkLst>
            <pc:docMk/>
            <pc:sldMk cId="0" sldId="267"/>
            <ac:spMk id="28" creationId="{00000000-0000-0000-0000-000000000000}"/>
          </ac:spMkLst>
        </pc:spChg>
      </pc:sldChg>
      <pc:sldChg chg="addSp delSp modSp">
        <pc:chgData name="LAMRIBEN Mahdi" userId="S::mehdi.lamriben@ynov.com::c0be09ca-ffec-4037-90ee-644dcc05f6bd" providerId="AD" clId="Web-{E031922B-A114-D202-5573-3B3FCC44F69F}" dt="2026-09-29T16:55:56.898" v="76"/>
        <pc:sldMkLst>
          <pc:docMk/>
          <pc:sldMk cId="0" sldId="270"/>
        </pc:sldMkLst>
        <pc:spChg chg="mod">
          <ac:chgData name="LAMRIBEN Mahdi" userId="S::mehdi.lamriben@ynov.com::c0be09ca-ffec-4037-90ee-644dcc05f6bd" providerId="AD" clId="Web-{E031922B-A114-D202-5573-3B3FCC44F69F}" dt="2026-09-29T16:54:59.318" v="54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4:37.317" v="48" actId="1076"/>
          <ac:spMkLst>
            <pc:docMk/>
            <pc:sldMk cId="0" sldId="270"/>
            <ac:spMk id="13" creationId="{00000000-0000-0000-0000-000000000000}"/>
          </ac:spMkLst>
        </pc:spChg>
        <pc:spChg chg="del">
          <ac:chgData name="LAMRIBEN Mahdi" userId="S::mehdi.lamriben@ynov.com::c0be09ca-ffec-4037-90ee-644dcc05f6bd" providerId="AD" clId="Web-{E031922B-A114-D202-5573-3B3FCC44F69F}" dt="2026-09-29T16:55:13.240" v="55"/>
          <ac:spMkLst>
            <pc:docMk/>
            <pc:sldMk cId="0" sldId="270"/>
            <ac:spMk id="24" creationId="{00000000-0000-0000-0000-000000000000}"/>
          </ac:spMkLst>
        </pc:spChg>
        <pc:spChg chg="del">
          <ac:chgData name="LAMRIBEN Mahdi" userId="S::mehdi.lamriben@ynov.com::c0be09ca-ffec-4037-90ee-644dcc05f6bd" providerId="AD" clId="Web-{E031922B-A114-D202-5573-3B3FCC44F69F}" dt="2026-09-29T16:55:15.615" v="56"/>
          <ac:spMkLst>
            <pc:docMk/>
            <pc:sldMk cId="0" sldId="270"/>
            <ac:spMk id="25" creationId="{00000000-0000-0000-0000-000000000000}"/>
          </ac:spMkLst>
        </pc:spChg>
        <pc:spChg chg="del">
          <ac:chgData name="LAMRIBEN Mahdi" userId="S::mehdi.lamriben@ynov.com::c0be09ca-ffec-4037-90ee-644dcc05f6bd" providerId="AD" clId="Web-{E031922B-A114-D202-5573-3B3FCC44F69F}" dt="2026-09-29T16:55:17.600" v="57"/>
          <ac:spMkLst>
            <pc:docMk/>
            <pc:sldMk cId="0" sldId="270"/>
            <ac:spMk id="26" creationId="{00000000-0000-0000-0000-000000000000}"/>
          </ac:spMkLst>
        </pc:spChg>
        <pc:spChg chg="del">
          <ac:chgData name="LAMRIBEN Mahdi" userId="S::mehdi.lamriben@ynov.com::c0be09ca-ffec-4037-90ee-644dcc05f6bd" providerId="AD" clId="Web-{E031922B-A114-D202-5573-3B3FCC44F69F}" dt="2026-09-29T16:55:19.678" v="58"/>
          <ac:spMkLst>
            <pc:docMk/>
            <pc:sldMk cId="0" sldId="270"/>
            <ac:spMk id="27" creationId="{00000000-0000-0000-0000-000000000000}"/>
          </ac:spMkLst>
        </pc:spChg>
        <pc:spChg chg="del">
          <ac:chgData name="LAMRIBEN Mahdi" userId="S::mehdi.lamriben@ynov.com::c0be09ca-ffec-4037-90ee-644dcc05f6bd" providerId="AD" clId="Web-{E031922B-A114-D202-5573-3B3FCC44F69F}" dt="2026-09-29T16:55:21.537" v="59"/>
          <ac:spMkLst>
            <pc:docMk/>
            <pc:sldMk cId="0" sldId="270"/>
            <ac:spMk id="28" creationId="{00000000-0000-0000-0000-000000000000}"/>
          </ac:spMkLst>
        </pc:spChg>
        <pc:spChg chg="ord">
          <ac:chgData name="LAMRIBEN Mahdi" userId="S::mehdi.lamriben@ynov.com::c0be09ca-ffec-4037-90ee-644dcc05f6bd" providerId="AD" clId="Web-{E031922B-A114-D202-5573-3B3FCC44F69F}" dt="2026-09-29T16:55:56.898" v="76"/>
          <ac:spMkLst>
            <pc:docMk/>
            <pc:sldMk cId="0" sldId="270"/>
            <ac:spMk id="29" creationId="{00000000-0000-0000-0000-000000000000}"/>
          </ac:spMkLst>
        </pc:spChg>
        <pc:spChg chg="ord">
          <ac:chgData name="LAMRIBEN Mahdi" userId="S::mehdi.lamriben@ynov.com::c0be09ca-ffec-4037-90ee-644dcc05f6bd" providerId="AD" clId="Web-{E031922B-A114-D202-5573-3B3FCC44F69F}" dt="2026-09-29T16:55:48.570" v="75"/>
          <ac:spMkLst>
            <pc:docMk/>
            <pc:sldMk cId="0" sldId="270"/>
            <ac:spMk id="31" creationId="{00000000-0000-0000-0000-000000000000}"/>
          </ac:spMkLst>
        </pc:spChg>
        <pc:spChg chg="add mod">
          <ac:chgData name="LAMRIBEN Mahdi" userId="S::mehdi.lamriben@ynov.com::c0be09ca-ffec-4037-90ee-644dcc05f6bd" providerId="AD" clId="Web-{E031922B-A114-D202-5573-3B3FCC44F69F}" dt="2026-09-29T16:55:37.929" v="70" actId="1076"/>
          <ac:spMkLst>
            <pc:docMk/>
            <pc:sldMk cId="0" sldId="270"/>
            <ac:spMk id="32" creationId="{54929831-3326-1E68-B255-75C1A83D8335}"/>
          </ac:spMkLst>
        </pc:spChg>
        <pc:spChg chg="add mod">
          <ac:chgData name="LAMRIBEN Mahdi" userId="S::mehdi.lamriben@ynov.com::c0be09ca-ffec-4037-90ee-644dcc05f6bd" providerId="AD" clId="Web-{E031922B-A114-D202-5573-3B3FCC44F69F}" dt="2026-09-29T16:55:37.944" v="71" actId="1076"/>
          <ac:spMkLst>
            <pc:docMk/>
            <pc:sldMk cId="0" sldId="270"/>
            <ac:spMk id="33" creationId="{B4ADB7E7-CEBD-51CE-4582-E9829482CE5F}"/>
          </ac:spMkLst>
        </pc:spChg>
        <pc:spChg chg="add mod">
          <ac:chgData name="LAMRIBEN Mahdi" userId="S::mehdi.lamriben@ynov.com::c0be09ca-ffec-4037-90ee-644dcc05f6bd" providerId="AD" clId="Web-{E031922B-A114-D202-5573-3B3FCC44F69F}" dt="2026-09-29T16:55:37.944" v="72" actId="1076"/>
          <ac:spMkLst>
            <pc:docMk/>
            <pc:sldMk cId="0" sldId="270"/>
            <ac:spMk id="34" creationId="{CFB87223-32CC-0846-96A4-E097F3E277EC}"/>
          </ac:spMkLst>
        </pc:spChg>
        <pc:spChg chg="add mod">
          <ac:chgData name="LAMRIBEN Mahdi" userId="S::mehdi.lamriben@ynov.com::c0be09ca-ffec-4037-90ee-644dcc05f6bd" providerId="AD" clId="Web-{E031922B-A114-D202-5573-3B3FCC44F69F}" dt="2026-09-29T16:55:37.960" v="73" actId="1076"/>
          <ac:spMkLst>
            <pc:docMk/>
            <pc:sldMk cId="0" sldId="270"/>
            <ac:spMk id="35" creationId="{FB0A95A6-54E6-9D1C-A4B1-D898E494ECCB}"/>
          </ac:spMkLst>
        </pc:spChg>
        <pc:spChg chg="add mod">
          <ac:chgData name="LAMRIBEN Mahdi" userId="S::mehdi.lamriben@ynov.com::c0be09ca-ffec-4037-90ee-644dcc05f6bd" providerId="AD" clId="Web-{E031922B-A114-D202-5573-3B3FCC44F69F}" dt="2026-09-29T16:55:37.976" v="74" actId="1076"/>
          <ac:spMkLst>
            <pc:docMk/>
            <pc:sldMk cId="0" sldId="270"/>
            <ac:spMk id="36" creationId="{5AFD7450-23A5-03D6-0E0F-B2AA5061F7F9}"/>
          </ac:spMkLst>
        </pc:spChg>
      </pc:sldChg>
      <pc:sldChg chg="modSp">
        <pc:chgData name="LAMRIBEN Mahdi" userId="S::mehdi.lamriben@ynov.com::c0be09ca-ffec-4037-90ee-644dcc05f6bd" providerId="AD" clId="Web-{E031922B-A114-D202-5573-3B3FCC44F69F}" dt="2026-09-29T16:57:34.169" v="93" actId="1076"/>
        <pc:sldMkLst>
          <pc:docMk/>
          <pc:sldMk cId="0" sldId="272"/>
        </pc:sldMkLst>
        <pc:spChg chg="mod">
          <ac:chgData name="LAMRIBEN Mahdi" userId="S::mehdi.lamriben@ynov.com::c0be09ca-ffec-4037-90ee-644dcc05f6bd" providerId="AD" clId="Web-{E031922B-A114-D202-5573-3B3FCC44F69F}" dt="2026-09-29T16:57:34.169" v="93" actId="107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7:29.793" v="91" actId="107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7:22.371" v="89" actId="1076"/>
          <ac:spMkLst>
            <pc:docMk/>
            <pc:sldMk cId="0" sldId="272"/>
            <ac:spMk id="12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7:12.293" v="86" actId="107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6:43.057" v="78" actId="1076"/>
          <ac:spMkLst>
            <pc:docMk/>
            <pc:sldMk cId="0" sldId="272"/>
            <ac:spMk id="16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6:48.604" v="80" actId="1076"/>
          <ac:spMkLst>
            <pc:docMk/>
            <pc:sldMk cId="0" sldId="272"/>
            <ac:spMk id="17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6:53.292" v="82" actId="1076"/>
          <ac:spMkLst>
            <pc:docMk/>
            <pc:sldMk cId="0" sldId="272"/>
            <ac:spMk id="18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7:00.636" v="84" actId="1076"/>
          <ac:spMkLst>
            <pc:docMk/>
            <pc:sldMk cId="0" sldId="272"/>
            <ac:spMk id="19" creationId="{00000000-0000-0000-0000-000000000000}"/>
          </ac:spMkLst>
        </pc:spChg>
      </pc:sldChg>
      <pc:sldChg chg="addSp delSp modSp">
        <pc:chgData name="LAMRIBEN Mahdi" userId="S::mehdi.lamriben@ynov.com::c0be09ca-ffec-4037-90ee-644dcc05f6bd" providerId="AD" clId="Web-{E031922B-A114-D202-5573-3B3FCC44F69F}" dt="2026-09-29T17:00:03.941" v="119" actId="14100"/>
        <pc:sldMkLst>
          <pc:docMk/>
          <pc:sldMk cId="0" sldId="276"/>
        </pc:sldMkLst>
        <pc:spChg chg="mod">
          <ac:chgData name="LAMRIBEN Mahdi" userId="S::mehdi.lamriben@ynov.com::c0be09ca-ffec-4037-90ee-644dcc05f6bd" providerId="AD" clId="Web-{E031922B-A114-D202-5573-3B3FCC44F69F}" dt="2026-09-29T16:58:39.187" v="98" actId="14100"/>
          <ac:spMkLst>
            <pc:docMk/>
            <pc:sldMk cId="0" sldId="276"/>
            <ac:spMk id="7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9:39.878" v="109" actId="1076"/>
          <ac:spMkLst>
            <pc:docMk/>
            <pc:sldMk cId="0" sldId="276"/>
            <ac:spMk id="8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9:50.347" v="114" actId="1076"/>
          <ac:spMkLst>
            <pc:docMk/>
            <pc:sldMk cId="0" sldId="276"/>
            <ac:spMk id="9" creationId="{00000000-0000-0000-0000-000000000000}"/>
          </ac:spMkLst>
        </pc:spChg>
        <pc:spChg chg="del">
          <ac:chgData name="LAMRIBEN Mahdi" userId="S::mehdi.lamriben@ynov.com::c0be09ca-ffec-4037-90ee-644dcc05f6bd" providerId="AD" clId="Web-{E031922B-A114-D202-5573-3B3FCC44F69F}" dt="2026-09-29T16:58:47.235" v="99"/>
          <ac:spMkLst>
            <pc:docMk/>
            <pc:sldMk cId="0" sldId="276"/>
            <ac:spMk id="11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9:39.893" v="110" actId="1076"/>
          <ac:spMkLst>
            <pc:docMk/>
            <pc:sldMk cId="0" sldId="276"/>
            <ac:spMk id="12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9:50.363" v="115" actId="1076"/>
          <ac:spMkLst>
            <pc:docMk/>
            <pc:sldMk cId="0" sldId="276"/>
            <ac:spMk id="13" creationId="{00000000-0000-0000-0000-000000000000}"/>
          </ac:spMkLst>
        </pc:spChg>
        <pc:spChg chg="del">
          <ac:chgData name="LAMRIBEN Mahdi" userId="S::mehdi.lamriben@ynov.com::c0be09ca-ffec-4037-90ee-644dcc05f6bd" providerId="AD" clId="Web-{E031922B-A114-D202-5573-3B3FCC44F69F}" dt="2026-09-29T16:59:03.220" v="103"/>
          <ac:spMkLst>
            <pc:docMk/>
            <pc:sldMk cId="0" sldId="276"/>
            <ac:spMk id="15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9:39.909" v="111" actId="1076"/>
          <ac:spMkLst>
            <pc:docMk/>
            <pc:sldMk cId="0" sldId="276"/>
            <ac:spMk id="16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9:50.378" v="116" actId="1076"/>
          <ac:spMkLst>
            <pc:docMk/>
            <pc:sldMk cId="0" sldId="276"/>
            <ac:spMk id="17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9:21.674" v="107" actId="1076"/>
          <ac:spMkLst>
            <pc:docMk/>
            <pc:sldMk cId="0" sldId="276"/>
            <ac:spMk id="19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9:39.925" v="112" actId="1076"/>
          <ac:spMkLst>
            <pc:docMk/>
            <pc:sldMk cId="0" sldId="276"/>
            <ac:spMk id="20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9:50.394" v="117" actId="1076"/>
          <ac:spMkLst>
            <pc:docMk/>
            <pc:sldMk cId="0" sldId="276"/>
            <ac:spMk id="21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9:25.580" v="108" actId="1076"/>
          <ac:spMkLst>
            <pc:docMk/>
            <pc:sldMk cId="0" sldId="276"/>
            <ac:spMk id="23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9:39.940" v="113" actId="1076"/>
          <ac:spMkLst>
            <pc:docMk/>
            <pc:sldMk cId="0" sldId="276"/>
            <ac:spMk id="24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6:59:50.410" v="118" actId="1076"/>
          <ac:spMkLst>
            <pc:docMk/>
            <pc:sldMk cId="0" sldId="276"/>
            <ac:spMk id="25" creationId="{00000000-0000-0000-0000-000000000000}"/>
          </ac:spMkLst>
        </pc:spChg>
        <pc:spChg chg="mod">
          <ac:chgData name="LAMRIBEN Mahdi" userId="S::mehdi.lamriben@ynov.com::c0be09ca-ffec-4037-90ee-644dcc05f6bd" providerId="AD" clId="Web-{E031922B-A114-D202-5573-3B3FCC44F69F}" dt="2026-09-29T17:00:03.941" v="119" actId="14100"/>
          <ac:spMkLst>
            <pc:docMk/>
            <pc:sldMk cId="0" sldId="276"/>
            <ac:spMk id="28" creationId="{00000000-0000-0000-0000-000000000000}"/>
          </ac:spMkLst>
        </pc:spChg>
        <pc:spChg chg="add mod">
          <ac:chgData name="LAMRIBEN Mahdi" userId="S::mehdi.lamriben@ynov.com::c0be09ca-ffec-4037-90ee-644dcc05f6bd" providerId="AD" clId="Web-{E031922B-A114-D202-5573-3B3FCC44F69F}" dt="2026-09-29T16:59:00.251" v="102" actId="1076"/>
          <ac:spMkLst>
            <pc:docMk/>
            <pc:sldMk cId="0" sldId="276"/>
            <ac:spMk id="30" creationId="{49341478-A0D5-EF7E-057D-956E98125E1E}"/>
          </ac:spMkLst>
        </pc:spChg>
        <pc:spChg chg="add mod">
          <ac:chgData name="LAMRIBEN Mahdi" userId="S::mehdi.lamriben@ynov.com::c0be09ca-ffec-4037-90ee-644dcc05f6bd" providerId="AD" clId="Web-{E031922B-A114-D202-5573-3B3FCC44F69F}" dt="2026-09-29T16:59:14.095" v="106" actId="1076"/>
          <ac:spMkLst>
            <pc:docMk/>
            <pc:sldMk cId="0" sldId="276"/>
            <ac:spMk id="31" creationId="{E15925F1-5897-22DB-F622-813F3F7BCF25}"/>
          </ac:spMkLst>
        </pc:spChg>
      </pc:sldChg>
      <pc:sldChg chg="del">
        <pc:chgData name="LAMRIBEN Mahdi" userId="S::mehdi.lamriben@ynov.com::c0be09ca-ffec-4037-90ee-644dcc05f6bd" providerId="AD" clId="Web-{E031922B-A114-D202-5573-3B3FCC44F69F}" dt="2026-09-30T14:48:04.698" v="120"/>
        <pc:sldMkLst>
          <pc:docMk/>
          <pc:sldMk cId="0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2A6B7-AB86-4605-A6B3-C200A3BD961E}" type="datetimeFigureOut"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46688-96CF-44CB-B5FB-389E985E85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67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B1DB2"/>
          </a:solidFill>
          <a:ln w="12700">
            <a:solidFill>
              <a:srgbClr val="5B1D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7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CONCEPTION DE DASHBOARDS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64692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 Data &amp; IA · Jour 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4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7A2CC7"/>
          </a:solidFill>
          <a:ln w="12700">
            <a:solidFill>
              <a:srgbClr val="7A2C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3268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9DDFC"/>
                </a:solidFill>
              </a:rPr>
              <a:t>CONCEPTION DE DASHBOARDS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664208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Raconter une histoire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avec les données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3246120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EAFB"/>
                </a:solidFill>
              </a:rPr>
              <a:t>Jour 1 · Fin de journée · Data storytelling et récit analytique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61447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DAF5"/>
                </a:solidFill>
              </a:rPr>
              <a:t>Mastère 2 Data &amp; Intelligence artificielle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503920" y="914400"/>
            <a:ext cx="3246120" cy="4983480"/>
          </a:xfrm>
          <a:prstGeom prst="roundRect">
            <a:avLst>
              <a:gd name="adj" fmla="val 2254"/>
            </a:avLst>
          </a:prstGeom>
          <a:solidFill>
            <a:srgbClr val="FAF9FC"/>
          </a:solidFill>
          <a:ln w="12700">
            <a:solidFill>
              <a:srgbClr val="FAF9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96528" y="1234440"/>
            <a:ext cx="114300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42832" y="1371600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7A"/>
                </a:solidFill>
              </a:rPr>
              <a:t>CA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942832" y="162763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22B"/>
                </a:solidFill>
              </a:rPr>
              <a:t>2,4 M€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942832" y="1993392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AA66"/>
                </a:solidFill>
              </a:rPr>
              <a:t>+12 %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076688" y="1234440"/>
            <a:ext cx="13258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22992" y="1371600"/>
            <a:ext cx="1033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7A"/>
                </a:solidFill>
              </a:rPr>
              <a:t>Objectif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222992" y="1627632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22B"/>
                </a:solidFill>
              </a:rPr>
              <a:t>2,6 M€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22992" y="1993392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8C68"/>
                </a:solidFill>
              </a:rPr>
              <a:t>92 % atteint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25603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22B"/>
                </a:solidFill>
              </a:rPr>
              <a:t>La croissance ralentit au Sud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24544" y="4023360"/>
            <a:ext cx="2148840" cy="0"/>
          </a:xfrm>
          <a:prstGeom prst="line">
            <a:avLst/>
          </a:prstGeom>
          <a:noFill/>
          <a:ln w="12700">
            <a:solidFill>
              <a:srgbClr val="C6C2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24544" y="3063240"/>
            <a:ext cx="0" cy="960120"/>
          </a:xfrm>
          <a:prstGeom prst="line">
            <a:avLst/>
          </a:prstGeom>
          <a:noFill/>
          <a:ln w="12700">
            <a:solidFill>
              <a:srgbClr val="C6C2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8940586" y="3774708"/>
            <a:ext cx="274893" cy="240631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1521" y="3761509"/>
            <a:ext cx="306977" cy="87284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9538498" y="3543994"/>
            <a:ext cx="282914" cy="304799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37454" y="3539763"/>
            <a:ext cx="306977" cy="87284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0144432" y="3234016"/>
            <a:ext cx="314998" cy="393031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0467451" y="3085407"/>
            <a:ext cx="266872" cy="144379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42344" y="3079282"/>
            <a:ext cx="306977" cy="349135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6169" y="3347244"/>
            <a:ext cx="146304" cy="146304"/>
          </a:xfrm>
          <a:prstGeom prst="ellipse">
            <a:avLst/>
          </a:prstGeom>
          <a:solidFill>
            <a:srgbClr val="F28C68"/>
          </a:solidFill>
          <a:ln w="12700">
            <a:solidFill>
              <a:srgbClr val="F28C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23960" y="43159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4222B"/>
                </a:solidFill>
              </a:rPr>
              <a:t>Le recul est concentré sur 2 catégories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933688" y="4956383"/>
            <a:ext cx="427482" cy="447721"/>
          </a:xfrm>
          <a:prstGeom prst="rect">
            <a:avLst/>
          </a:prstGeom>
          <a:solidFill>
            <a:srgbClr val="D7C3F2"/>
          </a:solidFill>
          <a:ln w="12700">
            <a:solidFill>
              <a:srgbClr val="D7C3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06256" y="5468112"/>
            <a:ext cx="4823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A7A"/>
                </a:solidFill>
              </a:rPr>
              <a:t>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507474" y="4736592"/>
            <a:ext cx="427482" cy="667512"/>
          </a:xfrm>
          <a:prstGeom prst="rect">
            <a:avLst/>
          </a:prstGeom>
          <a:solidFill>
            <a:srgbClr val="F28C68"/>
          </a:solidFill>
          <a:ln w="12700">
            <a:solidFill>
              <a:srgbClr val="F28C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80042" y="5468112"/>
            <a:ext cx="4823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A7A"/>
                </a:solidFill>
              </a:rPr>
              <a:t>B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081260" y="5176173"/>
            <a:ext cx="427482" cy="227931"/>
          </a:xfrm>
          <a:prstGeom prst="rect">
            <a:avLst/>
          </a:prstGeom>
          <a:solidFill>
            <a:srgbClr val="D7C3F2"/>
          </a:solidFill>
          <a:ln w="12700">
            <a:solidFill>
              <a:srgbClr val="D7C3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3828" y="5468112"/>
            <a:ext cx="4823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A7A"/>
                </a:solidFill>
              </a:rPr>
              <a:t>C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655046" y="5127331"/>
            <a:ext cx="427482" cy="276773"/>
          </a:xfrm>
          <a:prstGeom prst="rect">
            <a:avLst/>
          </a:prstGeom>
          <a:solidFill>
            <a:srgbClr val="D7C3F2"/>
          </a:solidFill>
          <a:ln w="12700">
            <a:solidFill>
              <a:srgbClr val="D7C3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27614" y="5468112"/>
            <a:ext cx="4823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A7A"/>
                </a:solidFill>
              </a:rPr>
              <a:t>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 de cette séquence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Passer d’un dashboard qui affiche des chiffres à un dashboard qui porte un message.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OBJECTIFS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74520"/>
            <a:ext cx="64008" cy="2011680"/>
          </a:xfrm>
          <a:prstGeom prst="rect">
            <a:avLst/>
          </a:prstGeom>
          <a:solidFill>
            <a:srgbClr val="5B1DB2"/>
          </a:solidFill>
          <a:ln w="12700">
            <a:solidFill>
              <a:srgbClr val="5B1D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05740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Structurer un récit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2441448"/>
            <a:ext cx="3172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Organiser les informations selon une progression claire : contexte → tension → résolution → recommandation.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4256" y="187452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4256" y="1874520"/>
            <a:ext cx="64008" cy="2011680"/>
          </a:xfrm>
          <a:prstGeom prst="rect">
            <a:avLst/>
          </a:prstGeom>
          <a:solidFill>
            <a:srgbClr val="F28C68"/>
          </a:solidFill>
          <a:ln w="12700">
            <a:solidFill>
              <a:srgbClr val="F28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205740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Guider la lecture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35424" y="2441448"/>
            <a:ext cx="3172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Utiliser titres, annotations, références et hiérarchie visuelle pour orienter l’attention sans surcharger.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10144" y="187452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1874520"/>
            <a:ext cx="64008" cy="2011680"/>
          </a:xfrm>
          <a:prstGeom prst="rect">
            <a:avLst/>
          </a:prstGeom>
          <a:solidFill>
            <a:srgbClr val="2EAA66"/>
          </a:solidFill>
          <a:ln w="12700">
            <a:solidFill>
              <a:srgbClr val="2EA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205740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Adapter au public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11312" y="2441448"/>
            <a:ext cx="3172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Construire un récit différent selon que l’on s’adresse à un décideur ou à un analyste.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34440" y="4617720"/>
            <a:ext cx="96926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35608" y="4663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1DB2"/>
                </a:solidFill>
              </a:rPr>
              <a:t>“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828800" y="4910328"/>
            <a:ext cx="8869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222B"/>
                </a:solidFill>
              </a:rPr>
              <a:t>Un bon dashboard ne montre pas tout. Il met en avant ce qui aide à comprendre et décider.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dashboard n’est pas un rapport de données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Le rôle du designer est de sélectionner, hiérarchiser et mettre en contexte.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PRINCIPE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0292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22B"/>
                </a:solidFill>
              </a:rPr>
              <a:t>Rapport de données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743200"/>
            <a:ext cx="4251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6E6A7A"/>
                </a:solidFill>
              </a:rPr>
              <a:t>Accumule des informations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6E6A7A"/>
                </a:solidFill>
              </a:rPr>
              <a:t>Décrit ce qui existe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6E6A7A"/>
                </a:solidFill>
              </a:rPr>
              <a:t>L’utilisateur doit faire lui-même la synthèse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6E6A7A"/>
                </a:solidFill>
              </a:rPr>
              <a:t>La densité est souvent élevée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029200" cy="3291840"/>
          </a:xfrm>
          <a:prstGeom prst="roundRect">
            <a:avLst>
              <a:gd name="adj" fmla="val 1667"/>
            </a:avLst>
          </a:prstGeom>
          <a:solidFill>
            <a:srgbClr val="EFE8FA"/>
          </a:solidFill>
          <a:ln w="12700">
            <a:solidFill>
              <a:srgbClr val="D6C0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1DB2"/>
                </a:solidFill>
              </a:rPr>
              <a:t>Dashboard narratif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20840" y="274320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B3945"/>
                </a:solidFill>
              </a:rPr>
              <a:t>Met en avant un message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B3945"/>
                </a:solidFill>
              </a:rPr>
              <a:t>Explique ce qui mérite l’attention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B3945"/>
                </a:solidFill>
              </a:rPr>
              <a:t>Facilite la comparaison et la décision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B3945"/>
                </a:solidFill>
              </a:rPr>
              <a:t>Réduit volontairement le bruit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06440" y="3474720"/>
            <a:ext cx="502920" cy="0"/>
          </a:xfrm>
          <a:prstGeom prst="line">
            <a:avLst/>
          </a:prstGeom>
          <a:noFill/>
          <a:ln w="38100">
            <a:solidFill>
              <a:srgbClr val="F28C68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 chiffre à la décision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Le storytelling transforme une observation brute en information actionnable.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CHAÎNE DE VALEUR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27889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6A7A"/>
                </a:solidFill>
              </a:rPr>
              <a:t>Donnée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222B"/>
                </a:solidFill>
              </a:rPr>
              <a:t>« Les ventes du Sud = 420 k€ »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11880" y="3063240"/>
            <a:ext cx="338328" cy="0"/>
          </a:xfrm>
          <a:prstGeom prst="line">
            <a:avLst/>
          </a:prstGeom>
          <a:noFill/>
          <a:ln w="31750">
            <a:solidFill>
              <a:srgbClr val="5B1DB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023360" y="2148840"/>
            <a:ext cx="2788920" cy="1874520"/>
          </a:xfrm>
          <a:prstGeom prst="roundRect">
            <a:avLst>
              <a:gd name="adj" fmla="val 2927"/>
            </a:avLst>
          </a:prstGeom>
          <a:solidFill>
            <a:srgbClr val="EFE8FA"/>
          </a:solidFill>
          <a:ln w="12700">
            <a:solidFill>
              <a:srgbClr val="D6C0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1DB2"/>
                </a:solidFill>
              </a:rPr>
              <a:t>Message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51960" y="29718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22B"/>
                </a:solidFill>
              </a:rPr>
              <a:t>« Le Sud recule de 18 % sur 3 mois »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03720" y="3063240"/>
            <a:ext cx="338328" cy="0"/>
          </a:xfrm>
          <a:prstGeom prst="line">
            <a:avLst/>
          </a:prstGeom>
          <a:noFill/>
          <a:ln w="31750">
            <a:solidFill>
              <a:srgbClr val="5B1DB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15200" y="2148840"/>
            <a:ext cx="27889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8C68"/>
                </a:solidFill>
              </a:rPr>
              <a:t>Décision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543800" y="29718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22B"/>
                </a:solidFill>
              </a:rPr>
              <a:t>« Identifier les causes sur les catégories A et B 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03120" y="473659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222B"/>
                </a:solidFill>
              </a:rPr>
              <a:t>Le dashboard raconte la transformation entre ces trois niveaux.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structure narrative en 4 temps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Le syllabus propose une progression simple : contexte → tension → résolution → recommandation.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STRUCTURE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621792" y="2103120"/>
            <a:ext cx="251460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331720"/>
            <a:ext cx="475488" cy="475488"/>
          </a:xfrm>
          <a:prstGeom prst="ellipse">
            <a:avLst/>
          </a:prstGeom>
          <a:solidFill>
            <a:srgbClr val="5B1DB2"/>
          </a:solidFill>
          <a:ln w="12700">
            <a:solidFill>
              <a:srgbClr val="5B1D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4323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22B"/>
                </a:solidFill>
              </a:rPr>
              <a:t>Contexte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347472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6E6A7A"/>
                </a:solidFill>
              </a:rPr>
              <a:t>Où en sommes-nous ?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3200400" y="3319272"/>
            <a:ext cx="237744" cy="0"/>
          </a:xfrm>
          <a:prstGeom prst="line">
            <a:avLst/>
          </a:prstGeom>
          <a:noFill/>
          <a:ln w="25400">
            <a:solidFill>
              <a:srgbClr val="5B1DB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02152" y="2103120"/>
            <a:ext cx="251460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66744" y="2331720"/>
            <a:ext cx="475488" cy="475488"/>
          </a:xfrm>
          <a:prstGeom prst="ellipse">
            <a:avLst/>
          </a:prstGeom>
          <a:solidFill>
            <a:srgbClr val="F28C68"/>
          </a:solidFill>
          <a:ln w="12700">
            <a:solidFill>
              <a:srgbClr val="F28C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24323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66744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22B"/>
                </a:solidFill>
              </a:rPr>
              <a:t>Tension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66744" y="347472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6E6A7A"/>
                </a:solidFill>
              </a:rPr>
              <a:t>Qu’est-ce qui mérite l’attention ?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6080760" y="3319272"/>
            <a:ext cx="237744" cy="0"/>
          </a:xfrm>
          <a:prstGeom prst="line">
            <a:avLst/>
          </a:prstGeom>
          <a:noFill/>
          <a:ln w="25400">
            <a:solidFill>
              <a:srgbClr val="5B1DB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82512" y="2103120"/>
            <a:ext cx="251460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47104" y="2331720"/>
            <a:ext cx="475488" cy="475488"/>
          </a:xfrm>
          <a:prstGeom prst="ellipse">
            <a:avLst/>
          </a:prstGeom>
          <a:solidFill>
            <a:srgbClr val="2EAA66"/>
          </a:solidFill>
          <a:ln w="12700">
            <a:solidFill>
              <a:srgbClr val="2EA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24323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47104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22B"/>
                </a:solidFill>
              </a:rPr>
              <a:t>Résolution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47104" y="347472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6E6A7A"/>
                </a:solidFill>
              </a:rPr>
              <a:t>Qu’est-ce qui explique la situation ?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8961120" y="3319272"/>
            <a:ext cx="237744" cy="0"/>
          </a:xfrm>
          <a:prstGeom prst="line">
            <a:avLst/>
          </a:prstGeom>
          <a:noFill/>
          <a:ln w="25400">
            <a:solidFill>
              <a:srgbClr val="5B1DB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262872" y="2103120"/>
            <a:ext cx="251460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27464" y="2331720"/>
            <a:ext cx="475488" cy="475488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27464" y="24323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27464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22B"/>
                </a:solidFill>
              </a:rPr>
              <a:t>Recommandation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27464" y="347472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6E6A7A"/>
                </a:solidFill>
              </a:rPr>
              <a:t>Que doit-on faire maintenant ?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1188720" y="523036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1DB2"/>
                </a:solidFill>
              </a:rPr>
              <a:t>Le récit doit être compréhensible même si l’utilisateur ne connaît pas le dataset.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· Le contexte répond à « où en sommes-nous ? »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Il donne le point de départ nécessaire pour interpréter la suite.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CONTEXTE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20116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14884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7A"/>
                </a:solidFill>
              </a:rPr>
              <a:t>Chiffre d’affaires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23544" y="24048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22B"/>
                </a:solidFill>
              </a:rPr>
              <a:t>2,4 M€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23544" y="277063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AA66"/>
                </a:solidFill>
              </a:rPr>
              <a:t>+12 % vs N-1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71800" y="2011680"/>
            <a:ext cx="20116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18104" y="214884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7A"/>
                </a:solidFill>
              </a:rPr>
              <a:t>Marge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18104" y="24048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22B"/>
                </a:solidFill>
              </a:rPr>
              <a:t>38 %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18104" y="277063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AA66"/>
                </a:solidFill>
              </a:rPr>
              <a:t>+2,1 pts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66360" y="2011680"/>
            <a:ext cx="20116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12664" y="214884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7A"/>
                </a:solidFill>
              </a:rPr>
              <a:t>Objectif annuel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12664" y="24048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22B"/>
                </a:solidFill>
              </a:rPr>
              <a:t>2,6 M€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12664" y="277063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8C68"/>
                </a:solidFill>
              </a:rPr>
              <a:t>92 % atteint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26680" y="18745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8432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22B"/>
                </a:solidFill>
              </a:rPr>
              <a:t>Le contexte doit être…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65008" y="26974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E6A7A"/>
                </a:solidFill>
              </a:rPr>
              <a:t>court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E6A7A"/>
                </a:solidFill>
              </a:rPr>
              <a:t>stable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E6A7A"/>
                </a:solidFill>
              </a:rPr>
              <a:t>comparatif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E6A7A"/>
                </a:solidFill>
              </a:rPr>
              <a:t>orienté métier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0120" y="4590288"/>
            <a:ext cx="101955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1288" y="46360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1DB2"/>
                </a:solidFill>
              </a:rPr>
              <a:t>“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1554480" y="4882896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222B"/>
                </a:solidFill>
              </a:rPr>
              <a:t>Les ventes progressent et l’objectif annuel est presque atteint.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· La tension répond à « qu’est-ce qui cloche ? »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Elle crée un contraste entre la situation attendue et ce qui est réellement observé.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TENSION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6492240" cy="33375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76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22B"/>
                </a:solidFill>
              </a:rPr>
              <a:t>Évolution mensuelle — Région Sud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43000" y="4389120"/>
            <a:ext cx="5394960" cy="0"/>
          </a:xfrm>
          <a:prstGeom prst="line">
            <a:avLst/>
          </a:prstGeom>
          <a:noFill/>
          <a:ln w="12700">
            <a:solidFill>
              <a:srgbClr val="C6C2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743200"/>
            <a:ext cx="0" cy="1645920"/>
          </a:xfrm>
          <a:prstGeom prst="line">
            <a:avLst/>
          </a:prstGeom>
          <a:noFill/>
          <a:ln w="12700">
            <a:solidFill>
              <a:srgbClr val="C6C2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52071" y="3888885"/>
            <a:ext cx="463238" cy="108856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597164" y="3378273"/>
            <a:ext cx="553951" cy="508000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151116" y="3231823"/>
            <a:ext cx="472309" cy="145142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632496" y="2910405"/>
            <a:ext cx="499522" cy="317499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3141089" y="2744508"/>
            <a:ext cx="445095" cy="154213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95255" y="2743200"/>
            <a:ext cx="490451" cy="329184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85705" y="3072384"/>
            <a:ext cx="490451" cy="329184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6156" y="3401568"/>
            <a:ext cx="490451" cy="164592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66607" y="3566160"/>
            <a:ext cx="490451" cy="164592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57058" y="3730752"/>
            <a:ext cx="490451" cy="329184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47509" y="4059936"/>
            <a:ext cx="490451" cy="329184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4808" y="4315968"/>
            <a:ext cx="146304" cy="146304"/>
          </a:xfrm>
          <a:prstGeom prst="ellipse">
            <a:avLst/>
          </a:prstGeom>
          <a:solidFill>
            <a:srgbClr val="F28C68"/>
          </a:solidFill>
          <a:ln w="12700">
            <a:solidFill>
              <a:srgbClr val="F28C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46177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4A4A"/>
                </a:solidFill>
              </a:rPr>
              <a:t>−18 % sur 3 mois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635240" y="1874520"/>
            <a:ext cx="3703320" cy="3337560"/>
          </a:xfrm>
          <a:prstGeom prst="roundRect">
            <a:avLst>
              <a:gd name="adj" fmla="val 1644"/>
            </a:avLst>
          </a:prstGeom>
          <a:solidFill>
            <a:srgbClr val="FCEFEA"/>
          </a:solidFill>
          <a:ln w="12700">
            <a:solidFill>
              <a:srgbClr val="F3C7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73568" y="22128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22B"/>
                </a:solidFill>
              </a:rPr>
              <a:t>Une tension utile est…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73568" y="2761488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B3945"/>
                </a:solidFill>
              </a:rPr>
              <a:t>visible rapidement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B3945"/>
                </a:solidFill>
              </a:rPr>
              <a:t>mesurée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B3945"/>
                </a:solidFill>
              </a:rPr>
              <a:t>mise en comparaison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B3945"/>
                </a:solidFill>
              </a:rPr>
              <a:t>reliée à un enjeu métier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73568" y="453542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8C68"/>
                </a:solidFill>
              </a:rPr>
              <a:t>La croissance globale masque un recul récent au Sud.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· La résolution répond à « pourquoi ? »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L’analyse descend d’un niveau pour isoler les facteurs qui expliquent la tension.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RÉSOLUTION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6629400" cy="33375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22B"/>
                </a:solidFill>
              </a:rPr>
              <a:t>Contribution à la baisse — Région Sud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34440" y="3386886"/>
            <a:ext cx="1193292" cy="892506"/>
          </a:xfrm>
          <a:prstGeom prst="rect">
            <a:avLst/>
          </a:prstGeom>
          <a:solidFill>
            <a:srgbClr val="D7C3F2"/>
          </a:solidFill>
          <a:ln w="12700">
            <a:solidFill>
              <a:srgbClr val="D7C3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4343400"/>
            <a:ext cx="1248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A7A"/>
                </a:solidFill>
              </a:rPr>
              <a:t>Cat. 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74036" y="2770632"/>
            <a:ext cx="1193292" cy="1508760"/>
          </a:xfrm>
          <a:prstGeom prst="rect">
            <a:avLst/>
          </a:prstGeom>
          <a:solidFill>
            <a:srgbClr val="F28C68"/>
          </a:solidFill>
          <a:ln w="12700">
            <a:solidFill>
              <a:srgbClr val="F28C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6604" y="4343400"/>
            <a:ext cx="1248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A7A"/>
                </a:solidFill>
              </a:rPr>
              <a:t>Cat. B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913632" y="3896889"/>
            <a:ext cx="1193292" cy="382503"/>
          </a:xfrm>
          <a:prstGeom prst="rect">
            <a:avLst/>
          </a:prstGeom>
          <a:solidFill>
            <a:srgbClr val="D7C3F2"/>
          </a:solidFill>
          <a:ln w="12700">
            <a:solidFill>
              <a:srgbClr val="D7C3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4343400"/>
            <a:ext cx="1248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A7A"/>
                </a:solidFill>
              </a:rPr>
              <a:t>Cat. C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53228" y="3811889"/>
            <a:ext cx="1193292" cy="467503"/>
          </a:xfrm>
          <a:prstGeom prst="rect">
            <a:avLst/>
          </a:prstGeom>
          <a:solidFill>
            <a:srgbClr val="D7C3F2"/>
          </a:solidFill>
          <a:ln w="12700">
            <a:solidFill>
              <a:srgbClr val="D7C3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5796" y="4343400"/>
            <a:ext cx="1248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A7A"/>
                </a:solidFill>
              </a:rPr>
              <a:t>Cat. 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34440" y="47091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1DB2"/>
                </a:solidFill>
              </a:rPr>
              <a:t>Cat. A + B = 72 % du recul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18120" y="1874520"/>
            <a:ext cx="3520440" cy="1463040"/>
          </a:xfrm>
          <a:prstGeom prst="roundRect">
            <a:avLst>
              <a:gd name="adj" fmla="val 3750"/>
            </a:avLst>
          </a:prstGeom>
          <a:solidFill>
            <a:srgbClr val="EAF7F0"/>
          </a:solidFill>
          <a:ln w="12700">
            <a:solidFill>
              <a:srgbClr val="CFE9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1874520"/>
            <a:ext cx="64008" cy="1463040"/>
          </a:xfrm>
          <a:prstGeom prst="rect">
            <a:avLst/>
          </a:prstGeom>
          <a:solidFill>
            <a:srgbClr val="2EAA66"/>
          </a:solidFill>
          <a:ln w="12700">
            <a:solidFill>
              <a:srgbClr val="2EA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9288" y="205740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Question analytique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19288" y="2441448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Quel segment, produit, période ou comportement explique le signal observé 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18120" y="361188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3611880"/>
            <a:ext cx="64008" cy="1600200"/>
          </a:xfrm>
          <a:prstGeom prst="rect">
            <a:avLst/>
          </a:prstGeom>
          <a:solidFill>
            <a:srgbClr val="5B1DB2"/>
          </a:solidFill>
          <a:ln w="12700">
            <a:solidFill>
              <a:srgbClr val="5B1D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9288" y="379476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Principe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19288" y="4178808"/>
            <a:ext cx="31729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Aller assez loin pour expliquer — pas assez loin pour perdre le lecteur dans tous les détails disponibles.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· La recommandation répond à « que fait-on ? »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Le récit analytique se termine par une action, une décision ou une question à approfondir.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RECOMMANDATION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61320" cy="960120"/>
          </a:xfrm>
          <a:prstGeom prst="roundRect">
            <a:avLst>
              <a:gd name="adj" fmla="val 5714"/>
            </a:avLst>
          </a:prstGeom>
          <a:solidFill>
            <a:srgbClr val="EFE8FA"/>
          </a:solidFill>
          <a:ln w="12700">
            <a:solidFill>
              <a:srgbClr val="D5B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313432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148C"/>
                </a:solidFill>
              </a:rPr>
              <a:t>Priorité : analyser la catégorie B dans la région Sud avant la prochaine revue commerciale.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3337560"/>
            <a:ext cx="32004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337560"/>
            <a:ext cx="64008" cy="1508760"/>
          </a:xfrm>
          <a:prstGeom prst="rect">
            <a:avLst/>
          </a:prstGeom>
          <a:solidFill>
            <a:srgbClr val="5B1DB2"/>
          </a:solidFill>
          <a:ln w="12700">
            <a:solidFill>
              <a:srgbClr val="5B1D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352044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Action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69848" y="3904488"/>
            <a:ext cx="28529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Comparer prix, volume et taux de conversion de la catégorie B sur les 3 derniers mois.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3337560"/>
            <a:ext cx="32004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3337560"/>
            <a:ext cx="64008" cy="1508760"/>
          </a:xfrm>
          <a:prstGeom prst="rect">
            <a:avLst/>
          </a:prstGeom>
          <a:solidFill>
            <a:srgbClr val="F28C68"/>
          </a:solidFill>
          <a:ln w="12700">
            <a:solidFill>
              <a:srgbClr val="F28C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352044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Responsable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81728" y="3904488"/>
            <a:ext cx="28529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Équipe commerciale Sud + analyste data.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2440" y="3337560"/>
            <a:ext cx="32004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3337560"/>
            <a:ext cx="64008" cy="1508760"/>
          </a:xfrm>
          <a:prstGeom prst="rect">
            <a:avLst/>
          </a:prstGeom>
          <a:solidFill>
            <a:srgbClr val="2EAA66"/>
          </a:solidFill>
          <a:ln w="12700">
            <a:solidFill>
              <a:srgbClr val="2EA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352044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Critère de suivi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93608" y="3904488"/>
            <a:ext cx="28529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Réduire l’écart vs objectif et surveiller la tendance semaine après semaine.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523036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222B"/>
                </a:solidFill>
              </a:rPr>
              <a:t>Une recommandation forte est précise, reliée au diagnostic et mesurable.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récit complet en une seule lecture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Les quatre temps doivent s’enchaîner sans rupture logique.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EXEMPLE FIL ROUGE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22860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03120"/>
            <a:ext cx="2286000" cy="109728"/>
          </a:xfrm>
          <a:prstGeom prst="rect">
            <a:avLst/>
          </a:prstGeom>
          <a:solidFill>
            <a:srgbClr val="5B1DB2"/>
          </a:solidFill>
          <a:ln w="12700">
            <a:solidFill>
              <a:srgbClr val="5B1D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1DB2"/>
                </a:solidFill>
              </a:rPr>
              <a:t>Contexte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3063240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22B"/>
                </a:solidFill>
              </a:rPr>
              <a:t>CA +12 %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4222B"/>
                </a:solidFill>
              </a:rPr>
              <a:t>92 % de l’objectif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17520" y="3200400"/>
            <a:ext cx="429768" cy="0"/>
          </a:xfrm>
          <a:prstGeom prst="line">
            <a:avLst/>
          </a:prstGeom>
          <a:noFill/>
          <a:ln w="29210">
            <a:solidFill>
              <a:srgbClr val="5B1DB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20440" y="2103120"/>
            <a:ext cx="22860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103120"/>
            <a:ext cx="2286000" cy="109728"/>
          </a:xfrm>
          <a:prstGeom prst="rect">
            <a:avLst/>
          </a:prstGeom>
          <a:solidFill>
            <a:srgbClr val="F28C68"/>
          </a:solidFill>
          <a:ln w="12700">
            <a:solidFill>
              <a:srgbClr val="F28C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C68"/>
                </a:solidFill>
              </a:rPr>
              <a:t>Tension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21608" y="3063240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22B"/>
                </a:solidFill>
              </a:rPr>
              <a:t>Sud : −18 %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4222B"/>
                </a:solidFill>
              </a:rPr>
              <a:t>sur 3 mois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52160" y="3200400"/>
            <a:ext cx="429768" cy="0"/>
          </a:xfrm>
          <a:prstGeom prst="line">
            <a:avLst/>
          </a:prstGeom>
          <a:noFill/>
          <a:ln w="29210">
            <a:solidFill>
              <a:srgbClr val="5B1DB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55080" y="2103120"/>
            <a:ext cx="22860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103120"/>
            <a:ext cx="2286000" cy="109728"/>
          </a:xfrm>
          <a:prstGeom prst="rect">
            <a:avLst/>
          </a:prstGeom>
          <a:solidFill>
            <a:srgbClr val="2EAA66"/>
          </a:solidFill>
          <a:ln w="12700">
            <a:solidFill>
              <a:srgbClr val="2EA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AA66"/>
                </a:solidFill>
              </a:rPr>
              <a:t>Résolution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56248" y="3063240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22B"/>
                </a:solidFill>
              </a:rPr>
              <a:t>72 % du recul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4222B"/>
                </a:solidFill>
              </a:rPr>
              <a:t>= Cat. A + B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686800" y="3200400"/>
            <a:ext cx="429768" cy="0"/>
          </a:xfrm>
          <a:prstGeom prst="line">
            <a:avLst/>
          </a:prstGeom>
          <a:noFill/>
          <a:ln w="29210">
            <a:solidFill>
              <a:srgbClr val="5B1DB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89720" y="2103120"/>
            <a:ext cx="22860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2103120"/>
            <a:ext cx="2286000" cy="1097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0888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48C"/>
                </a:solidFill>
              </a:rPr>
              <a:t>Recommandation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90888" y="3063240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22B"/>
                </a:solidFill>
              </a:rPr>
              <a:t>Prioriser l’analyse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4222B"/>
                </a:solidFill>
              </a:rPr>
              <a:t>de la Cat. B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34440" y="49834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1DB2"/>
                </a:solidFill>
              </a:rPr>
              <a:t>Le lecteur doit pouvoir reformuler l’histoire en une phrase après quelques secondes.</a:t>
            </a:r>
            <a:endParaRPr lang="en-US" sz="1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Structurer le dashboard en séquence narrative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Le syllabus propose une progression par pages : contexte → analyse → recommandations.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ARCHITECTURE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324612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A7A"/>
                </a:solidFill>
              </a:rPr>
              <a:t>Page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5B1DB2"/>
                </a:solidFill>
              </a:rPr>
              <a:t>Contexte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22B"/>
                </a:solidFill>
              </a:rPr>
              <a:t>KPIs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4222B"/>
                </a:solidFill>
              </a:rPr>
              <a:t>Tendances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4222B"/>
                </a:solidFill>
              </a:rPr>
              <a:t>Alertes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50792" y="3429000"/>
            <a:ext cx="365760" cy="0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34840" y="1965960"/>
            <a:ext cx="324612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A7A"/>
                </a:solidFill>
              </a:rPr>
              <a:t>Page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8C68"/>
                </a:solidFill>
              </a:rPr>
              <a:t>Analyse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63440" y="33375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22B"/>
                </a:solidFill>
              </a:rPr>
              <a:t>Segments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4222B"/>
                </a:solidFill>
              </a:rPr>
              <a:t>Comparaisons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4222B"/>
                </a:solidFill>
              </a:rPr>
              <a:t>Causes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08392" y="3429000"/>
            <a:ext cx="365760" cy="0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92440" y="1965960"/>
            <a:ext cx="324612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A7A"/>
                </a:solidFill>
              </a:rPr>
              <a:t>Page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21040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AA66"/>
                </a:solidFill>
              </a:rPr>
              <a:t>Recommandations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321040" y="33375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22B"/>
                </a:solidFill>
              </a:rPr>
              <a:t>Actions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4222B"/>
                </a:solidFill>
              </a:rPr>
              <a:t>Priorités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4222B"/>
                </a:solidFill>
              </a:rPr>
              <a:t>Suivi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920240" y="528523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222B"/>
                </a:solidFill>
              </a:rPr>
              <a:t>La navigation devient elle-même un outil de storytelling.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Page 1 · Donner le contexte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Cette page doit permettre de comprendre la situation globale sans exploration.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PAGE DE CONTEXTE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777240" y="1938528"/>
            <a:ext cx="19659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075688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7A"/>
                </a:solidFill>
              </a:rPr>
              <a:t>CA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23544" y="2331720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22B"/>
                </a:solidFill>
              </a:rPr>
              <a:t>2,4 M€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23544" y="2697480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AA66"/>
                </a:solidFill>
              </a:rPr>
              <a:t>+12 %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0" y="1938528"/>
            <a:ext cx="19659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384" y="2075688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7A"/>
                </a:solidFill>
              </a:rPr>
              <a:t>Marge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72384" y="2331720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22B"/>
                </a:solidFill>
              </a:rPr>
              <a:t>38 %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72384" y="2697480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AA66"/>
                </a:solidFill>
              </a:rPr>
              <a:t>+2,1 pts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74920" y="1938528"/>
            <a:ext cx="19659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1224" y="2075688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7A"/>
                </a:solidFill>
              </a:rPr>
              <a:t>Objectif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21224" y="2331720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22B"/>
                </a:solidFill>
              </a:rPr>
              <a:t>2,6 M€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21224" y="2697480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8C68"/>
                </a:solidFill>
              </a:rPr>
              <a:t>92 %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7240" y="3246120"/>
            <a:ext cx="62636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5112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22B"/>
                </a:solidFill>
              </a:rPr>
              <a:t>La performance globale reste positive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43000" y="4709160"/>
            <a:ext cx="5074920" cy="0"/>
          </a:xfrm>
          <a:prstGeom prst="line">
            <a:avLst/>
          </a:prstGeom>
          <a:noFill/>
          <a:ln w="12700">
            <a:solidFill>
              <a:srgbClr val="C6C2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3977640"/>
            <a:ext cx="0" cy="731520"/>
          </a:xfrm>
          <a:prstGeom prst="line">
            <a:avLst/>
          </a:prstGeom>
          <a:noFill/>
          <a:ln w="12700">
            <a:solidFill>
              <a:srgbClr val="C6C2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152071" y="4609375"/>
            <a:ext cx="715918" cy="81643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867989" y="4546238"/>
            <a:ext cx="788489" cy="54429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0191" y="4546962"/>
            <a:ext cx="724989" cy="0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3354251" y="4374969"/>
            <a:ext cx="679633" cy="172356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052025" y="4320541"/>
            <a:ext cx="706847" cy="36286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4758872" y="4239622"/>
            <a:ext cx="734060" cy="72571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5511073" y="4040777"/>
            <a:ext cx="697776" cy="190499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43800" y="1938528"/>
            <a:ext cx="3703320" cy="3136392"/>
          </a:xfrm>
          <a:prstGeom prst="roundRect">
            <a:avLst>
              <a:gd name="adj" fmla="val 1749"/>
            </a:avLst>
          </a:prstGeom>
          <a:solidFill>
            <a:srgbClr val="EFE8FA"/>
          </a:solidFill>
          <a:ln w="12700">
            <a:solidFill>
              <a:srgbClr val="D7C4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1938528"/>
            <a:ext cx="64008" cy="3136392"/>
          </a:xfrm>
          <a:prstGeom prst="rect">
            <a:avLst/>
          </a:prstGeom>
          <a:solidFill>
            <a:srgbClr val="5B1DB2"/>
          </a:solidFill>
          <a:ln w="12700">
            <a:solidFill>
              <a:srgbClr val="5B1D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4968" y="2121408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Ce que l’utilisateur doit retenir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44968" y="2505456"/>
            <a:ext cx="335584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• Niveau de performance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• Tendance principale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• Écart à l’objectif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• Signal d’alerte éventuel</a:t>
            </a: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Page 2 · Expliquer la situation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Cette page permet d’explorer les causes sans perdre le fil narratif.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PAGE D’ANALYSE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4406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945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22B"/>
                </a:solidFill>
              </a:rPr>
              <a:t>La baisse du Sud vient surtout des catégories A et 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3459265"/>
            <a:ext cx="987552" cy="838415"/>
          </a:xfrm>
          <a:prstGeom prst="rect">
            <a:avLst/>
          </a:prstGeom>
          <a:solidFill>
            <a:srgbClr val="D7C3F2"/>
          </a:solidFill>
          <a:ln w="12700">
            <a:solidFill>
              <a:srgbClr val="D7C3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436168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A7A"/>
                </a:solidFill>
              </a:rPr>
              <a:t>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76856" y="2880360"/>
            <a:ext cx="987552" cy="1417320"/>
          </a:xfrm>
          <a:prstGeom prst="rect">
            <a:avLst/>
          </a:prstGeom>
          <a:solidFill>
            <a:srgbClr val="F28C68"/>
          </a:solidFill>
          <a:ln w="12700">
            <a:solidFill>
              <a:srgbClr val="F28C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9424" y="436168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A7A"/>
                </a:solidFill>
              </a:rPr>
              <a:t>B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10712" y="3938359"/>
            <a:ext cx="987552" cy="359321"/>
          </a:xfrm>
          <a:prstGeom prst="rect">
            <a:avLst/>
          </a:prstGeom>
          <a:solidFill>
            <a:srgbClr val="D7C3F2"/>
          </a:solidFill>
          <a:ln w="12700">
            <a:solidFill>
              <a:srgbClr val="D7C3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436168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A7A"/>
                </a:solidFill>
              </a:rPr>
              <a:t>C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44568" y="3858510"/>
            <a:ext cx="987552" cy="439170"/>
          </a:xfrm>
          <a:prstGeom prst="rect">
            <a:avLst/>
          </a:prstGeom>
          <a:solidFill>
            <a:srgbClr val="D7C3F2"/>
          </a:solidFill>
          <a:ln w="12700">
            <a:solidFill>
              <a:srgbClr val="D7C3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436168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A7A"/>
                </a:solidFill>
              </a:rPr>
              <a:t>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583680" y="1874520"/>
            <a:ext cx="4709160" cy="3291840"/>
          </a:xfrm>
          <a:prstGeom prst="roundRect">
            <a:avLst>
              <a:gd name="adj" fmla="val 1389"/>
            </a:avLst>
          </a:prstGeom>
          <a:solidFill>
            <a:srgbClr val="FCEFEA"/>
          </a:solidFill>
          <a:ln w="12700">
            <a:solidFill>
              <a:srgbClr val="F0C8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22B"/>
                </a:solidFill>
              </a:rPr>
              <a:t>Une page d’analyse efficace…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3720" y="274320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B3945"/>
                </a:solidFill>
              </a:rPr>
              <a:t>part d’une question précise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B3945"/>
                </a:solidFill>
              </a:rPr>
              <a:t>limite le nombre d’angles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B3945"/>
                </a:solidFill>
              </a:rPr>
              <a:t>met les comparaisons au premier plan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B3945"/>
                </a:solidFill>
              </a:rPr>
              <a:t>conserve un lien clair avec le signal initial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Page 3 · Transformer l’analyse en action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La dernière page ferme la boucle : observation → explication → décision.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PAGE DE RECOMMANDATIONS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0607040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94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6A7A"/>
                </a:solidFill>
              </a:rPr>
              <a:t>ACTION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97880" y="2194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6A7A"/>
                </a:solidFill>
              </a:rPr>
              <a:t>NIVEAU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321040" y="2194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6A7A"/>
                </a:solidFill>
              </a:rPr>
              <a:t>ÉCHÉANCE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51560" y="2560320"/>
            <a:ext cx="9235440" cy="0"/>
          </a:xfrm>
          <a:prstGeom prst="line">
            <a:avLst/>
          </a:prstGeom>
          <a:noFill/>
          <a:ln w="12700">
            <a:solidFill>
              <a:srgbClr val="ECE9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6700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22B"/>
                </a:solidFill>
              </a:rPr>
              <a:t>Analyser la Cat. B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715000" y="2624328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FBEDED"/>
          </a:solidFill>
          <a:ln w="12700">
            <a:solidFill>
              <a:srgbClr val="FBED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26791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C94A4A"/>
                </a:solidFill>
              </a:rPr>
              <a:t>Priorité haute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8321040" y="267004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A7A"/>
                </a:solidFill>
              </a:rPr>
              <a:t>Cette semaine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51560" y="3273552"/>
            <a:ext cx="9235440" cy="0"/>
          </a:xfrm>
          <a:prstGeom prst="line">
            <a:avLst/>
          </a:prstGeom>
          <a:noFill/>
          <a:ln w="12700">
            <a:solidFill>
              <a:srgbClr val="EC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3832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22B"/>
                </a:solidFill>
              </a:rPr>
              <a:t>Comparer les prix régionaux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715000" y="333756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FCEFEA"/>
          </a:solidFill>
          <a:ln w="12700">
            <a:solidFill>
              <a:srgbClr val="FCEF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339242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28C68"/>
                </a:solidFill>
              </a:rPr>
              <a:t>Priorité moyenne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8321040" y="33832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A7A"/>
                </a:solidFill>
              </a:rPr>
              <a:t>Prochaine revue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51560" y="3986784"/>
            <a:ext cx="9235440" cy="0"/>
          </a:xfrm>
          <a:prstGeom prst="line">
            <a:avLst/>
          </a:prstGeom>
          <a:noFill/>
          <a:ln w="12700">
            <a:solidFill>
              <a:srgbClr val="ECE9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09651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22B"/>
                </a:solidFill>
              </a:rPr>
              <a:t>Suivre la conversion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715000" y="4050792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410565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2EAA66"/>
                </a:solidFill>
              </a:rPr>
              <a:t>Monitoring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8321040" y="409651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A7A"/>
                </a:solidFill>
              </a:rPr>
              <a:t>Hebdomadaire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05840" y="5321808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5B1DB2"/>
                </a:solidFill>
              </a:rPr>
              <a:t>La recommandation ne remplace pas la décision métier : elle structure les éléments nécessaires pour la prendre.</a:t>
            </a:r>
            <a:endParaRPr lang="en-US" sz="148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titre est déjà une conclusion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Un bon titre donne le message principal avant même de lire le graphique.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TITRES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4983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19456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EEAF4"/>
          </a:solidFill>
          <a:ln w="12700">
            <a:solidFill>
              <a:srgbClr val="EEEA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2494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6E6A7A"/>
                </a:solidFill>
              </a:rPr>
              <a:t>TITRE DESCRIPTIF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1143000" y="27432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22B"/>
                </a:solidFill>
              </a:rPr>
              <a:t>Chiffre d’affaires par région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188720" y="4526280"/>
            <a:ext cx="3566160" cy="0"/>
          </a:xfrm>
          <a:prstGeom prst="line">
            <a:avLst/>
          </a:prstGeom>
          <a:noFill/>
          <a:ln w="12700">
            <a:solidFill>
              <a:srgbClr val="C6C2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3657600"/>
            <a:ext cx="0" cy="868680"/>
          </a:xfrm>
          <a:prstGeom prst="line">
            <a:avLst/>
          </a:prstGeom>
          <a:noFill/>
          <a:ln w="12700">
            <a:solidFill>
              <a:srgbClr val="C6C2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279434" y="4016899"/>
            <a:ext cx="686019" cy="154216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947308" y="3660358"/>
            <a:ext cx="649733" cy="362856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15184" y="3657600"/>
            <a:ext cx="713232" cy="173736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28416" y="3831336"/>
            <a:ext cx="713232" cy="347472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41648" y="4178808"/>
            <a:ext cx="713232" cy="347472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1728" y="4453128"/>
            <a:ext cx="146304" cy="146304"/>
          </a:xfrm>
          <a:prstGeom prst="ellipse">
            <a:avLst/>
          </a:prstGeom>
          <a:solidFill>
            <a:srgbClr val="F28C68"/>
          </a:solidFill>
          <a:ln w="12700">
            <a:solidFill>
              <a:srgbClr val="F28C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1874520"/>
            <a:ext cx="4983480" cy="3291840"/>
          </a:xfrm>
          <a:prstGeom prst="roundRect">
            <a:avLst>
              <a:gd name="adj" fmla="val 1389"/>
            </a:avLst>
          </a:prstGeom>
          <a:solidFill>
            <a:srgbClr val="EFE8FA"/>
          </a:solidFill>
          <a:ln w="12700">
            <a:solidFill>
              <a:srgbClr val="D6C2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219456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24942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TITRE-MESSAGE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6675120" y="27432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148C"/>
                </a:solidFill>
              </a:rPr>
              <a:t>Le Sud concentre la baisse récente du CA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720840" y="4526280"/>
            <a:ext cx="3566160" cy="0"/>
          </a:xfrm>
          <a:prstGeom prst="line">
            <a:avLst/>
          </a:prstGeom>
          <a:noFill/>
          <a:ln w="12700">
            <a:solidFill>
              <a:srgbClr val="C6C2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657600"/>
            <a:ext cx="0" cy="868680"/>
          </a:xfrm>
          <a:prstGeom prst="line">
            <a:avLst/>
          </a:prstGeom>
          <a:noFill/>
          <a:ln w="12700">
            <a:solidFill>
              <a:srgbClr val="C6C2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544068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222B"/>
                </a:solidFill>
              </a:rPr>
              <a:t>Même graphique. Compréhension différente.</a:t>
            </a:r>
            <a:endParaRPr lang="en-US" sz="16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54929831-3326-1E68-B255-75C1A83D8335}"/>
              </a:ext>
            </a:extLst>
          </p:cNvPr>
          <p:cNvSpPr/>
          <p:nvPr/>
        </p:nvSpPr>
        <p:spPr>
          <a:xfrm flipV="1">
            <a:off x="6803933" y="4007827"/>
            <a:ext cx="686019" cy="154216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B4ADB7E7-CEBD-51CE-4582-E9829482CE5F}"/>
              </a:ext>
            </a:extLst>
          </p:cNvPr>
          <p:cNvSpPr/>
          <p:nvPr/>
        </p:nvSpPr>
        <p:spPr>
          <a:xfrm flipV="1">
            <a:off x="7471807" y="3651286"/>
            <a:ext cx="649733" cy="362856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CFB87223-32CC-0846-96A4-E097F3E277EC}"/>
              </a:ext>
            </a:extLst>
          </p:cNvPr>
          <p:cNvSpPr/>
          <p:nvPr/>
        </p:nvSpPr>
        <p:spPr>
          <a:xfrm>
            <a:off x="8139683" y="3648528"/>
            <a:ext cx="713232" cy="173736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FB0A95A6-54E6-9D1C-A4B1-D898E494ECCB}"/>
              </a:ext>
            </a:extLst>
          </p:cNvPr>
          <p:cNvSpPr/>
          <p:nvPr/>
        </p:nvSpPr>
        <p:spPr>
          <a:xfrm>
            <a:off x="8852915" y="3822264"/>
            <a:ext cx="713232" cy="347472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5AFD7450-23A5-03D6-0E0F-B2AA5061F7F9}"/>
              </a:ext>
            </a:extLst>
          </p:cNvPr>
          <p:cNvSpPr/>
          <p:nvPr/>
        </p:nvSpPr>
        <p:spPr>
          <a:xfrm>
            <a:off x="9566147" y="4169736"/>
            <a:ext cx="713232" cy="347472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213848" y="4453128"/>
            <a:ext cx="146304" cy="146304"/>
          </a:xfrm>
          <a:prstGeom prst="ellipse">
            <a:avLst/>
          </a:prstGeom>
          <a:solidFill>
            <a:srgbClr val="F28C68"/>
          </a:solidFill>
          <a:ln w="12700">
            <a:solidFill>
              <a:srgbClr val="F28C68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 un titre descriptif en titre de message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Le titre doit exprimer ce que le graphique démontre.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EXEMPLES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106527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299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7A"/>
                </a:solidFill>
              </a:rPr>
              <a:t>Ventes mensuelles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77640" y="2167128"/>
            <a:ext cx="640080" cy="0"/>
          </a:xfrm>
          <a:prstGeom prst="line">
            <a:avLst/>
          </a:prstGeom>
          <a:noFill/>
          <a:ln w="25400">
            <a:solidFill>
              <a:srgbClr val="5B1DB2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892040" y="1993392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Les ventes ralentissent depuis mars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679192"/>
            <a:ext cx="10652760" cy="658368"/>
          </a:xfrm>
          <a:prstGeom prst="roundRect">
            <a:avLst>
              <a:gd name="adj" fmla="val 5556"/>
            </a:avLst>
          </a:prstGeom>
          <a:solidFill>
            <a:srgbClr val="FAF9FC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880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7A"/>
                </a:solidFill>
              </a:rPr>
              <a:t>Répartition des clients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77640" y="3017520"/>
            <a:ext cx="640080" cy="0"/>
          </a:xfrm>
          <a:prstGeom prst="line">
            <a:avLst/>
          </a:prstGeom>
          <a:noFill/>
          <a:ln w="25400">
            <a:solidFill>
              <a:srgbClr val="5B1DB2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892040" y="2843784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Les grands comptes représentent 64 % du CA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529584"/>
            <a:ext cx="106527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7307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7A"/>
                </a:solidFill>
              </a:rPr>
              <a:t>Taux de conversion par canal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3867912"/>
            <a:ext cx="640080" cy="0"/>
          </a:xfrm>
          <a:prstGeom prst="line">
            <a:avLst/>
          </a:prstGeom>
          <a:noFill/>
          <a:ln w="25400">
            <a:solidFill>
              <a:srgbClr val="5B1DB2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892040" y="3694176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Le canal partenaire convertit deux fois mieux que le social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4379976"/>
            <a:ext cx="10652760" cy="658368"/>
          </a:xfrm>
          <a:prstGeom prst="roundRect">
            <a:avLst>
              <a:gd name="adj" fmla="val 5556"/>
            </a:avLst>
          </a:prstGeom>
          <a:solidFill>
            <a:srgbClr val="FAF9FC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5811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7A"/>
                </a:solidFill>
              </a:rPr>
              <a:t>Marge par produit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977640" y="4718304"/>
            <a:ext cx="640080" cy="0"/>
          </a:xfrm>
          <a:prstGeom prst="line">
            <a:avLst/>
          </a:prstGeom>
          <a:noFill/>
          <a:ln w="25400">
            <a:solidFill>
              <a:srgbClr val="5B1DB2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892040" y="4544568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Deux produits concentrent l’essentiel de la marge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65960" y="54406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5B1DB2"/>
                </a:solidFill>
              </a:rPr>
              <a:t>Le titre-message réduit le temps nécessaire pour comprendre le visuel.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annotations guident la lecture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Elles attirent l’attention sur un événement, une rupture ou un point de comparaison.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ANNOTATIONS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731520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22B"/>
                </a:solidFill>
              </a:rPr>
              <a:t>Évolution hebdomadaire du taux de conversion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43000" y="4343400"/>
            <a:ext cx="5806440" cy="0"/>
          </a:xfrm>
          <a:prstGeom prst="line">
            <a:avLst/>
          </a:prstGeom>
          <a:noFill/>
          <a:ln w="12700">
            <a:solidFill>
              <a:srgbClr val="C6C2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834640"/>
            <a:ext cx="0" cy="1508760"/>
          </a:xfrm>
          <a:prstGeom prst="line">
            <a:avLst/>
          </a:prstGeom>
          <a:noFill/>
          <a:ln w="12700">
            <a:solidFill>
              <a:srgbClr val="C6C2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61142" y="3325950"/>
            <a:ext cx="571573" cy="217714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750857" y="3192417"/>
            <a:ext cx="553431" cy="127000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322430" y="3101704"/>
            <a:ext cx="580644" cy="90714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921217" y="2841172"/>
            <a:ext cx="526217" cy="253999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65576" y="2834640"/>
            <a:ext cx="580644" cy="251460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46220" y="3086100"/>
            <a:ext cx="580644" cy="1257300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4626865" y="4098472"/>
            <a:ext cx="562501" cy="217715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5198436" y="3946798"/>
            <a:ext cx="635072" cy="145143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5851651" y="3786052"/>
            <a:ext cx="508074" cy="154214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9725" y="3786052"/>
            <a:ext cx="580644" cy="0"/>
          </a:xfrm>
          <a:prstGeom prst="line">
            <a:avLst/>
          </a:prstGeom>
          <a:noFill/>
          <a:ln w="30480">
            <a:solidFill>
              <a:srgbClr val="5B1D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53712" y="4270248"/>
            <a:ext cx="146304" cy="146304"/>
          </a:xfrm>
          <a:prstGeom prst="ellipse">
            <a:avLst/>
          </a:prstGeom>
          <a:solidFill>
            <a:srgbClr val="F28C68"/>
          </a:solidFill>
          <a:ln w="12700">
            <a:solidFill>
              <a:srgbClr val="F28C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36008" y="2971800"/>
            <a:ext cx="0" cy="1325880"/>
          </a:xfrm>
          <a:prstGeom prst="line">
            <a:avLst/>
          </a:prstGeom>
          <a:noFill/>
          <a:ln w="19050">
            <a:solidFill>
              <a:srgbClr val="F28C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7432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8C68"/>
                </a:solidFill>
              </a:rPr>
              <a:t>Campagne modifiée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70832" y="42793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4A4A"/>
                </a:solidFill>
              </a:rPr>
              <a:t>−5 pts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58200" y="1828800"/>
            <a:ext cx="2880360" cy="1353312"/>
          </a:xfrm>
          <a:prstGeom prst="roundRect">
            <a:avLst>
              <a:gd name="adj" fmla="val 4054"/>
            </a:avLst>
          </a:prstGeom>
          <a:solidFill>
            <a:srgbClr val="FCEFEA"/>
          </a:solidFill>
          <a:ln w="12700">
            <a:solidFill>
              <a:srgbClr val="F0CAB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58200" y="1828800"/>
            <a:ext cx="64008" cy="1353312"/>
          </a:xfrm>
          <a:prstGeom prst="rect">
            <a:avLst/>
          </a:prstGeom>
          <a:solidFill>
            <a:srgbClr val="F28C68"/>
          </a:solidFill>
          <a:ln w="12700">
            <a:solidFill>
              <a:srgbClr val="F28C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9368" y="201168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À annoter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59368" y="2395728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• rupture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• événement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• seuil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• objectif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58200" y="3429000"/>
            <a:ext cx="28803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58200" y="3429000"/>
            <a:ext cx="64008" cy="1783080"/>
          </a:xfrm>
          <a:prstGeom prst="rect">
            <a:avLst/>
          </a:prstGeom>
          <a:solidFill>
            <a:srgbClr val="5B1DB2"/>
          </a:solidFill>
          <a:ln w="12700">
            <a:solidFill>
              <a:srgbClr val="5B1D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59368" y="361188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À éviter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59368" y="3995928"/>
            <a:ext cx="25328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Tout annoter. Une annotation n’est utile que si elle change l’interprétation du graphique.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Toujours donner un point de référence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Une valeur seule dit peu de choses. Une comparaison lui donne du sens.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RÉFÉRENCES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21945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19456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7A"/>
                </a:solidFill>
              </a:rPr>
              <a:t>CA actuel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23544" y="2450592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22B"/>
                </a:solidFill>
              </a:rPr>
              <a:t>2,4 M€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23544" y="2816352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54680" y="23957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E6A7A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749040" y="2057400"/>
            <a:ext cx="21945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5344" y="219456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7A"/>
                </a:solidFill>
              </a:rPr>
              <a:t>vs N-1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95344" y="2450592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22B"/>
                </a:solidFill>
              </a:rPr>
              <a:t>+12 %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95344" y="2816352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AA66"/>
                </a:solidFill>
              </a:rPr>
              <a:t>progression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5080" y="23957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E6A7A"/>
                </a:solidFill>
              </a:rPr>
              <a:t>+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949440" y="2057400"/>
            <a:ext cx="21945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95744" y="219456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7A"/>
                </a:solidFill>
              </a:rPr>
              <a:t>vs objectif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95744" y="2450592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22B"/>
                </a:solidFill>
              </a:rPr>
              <a:t>−8 %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95744" y="2816352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8C68"/>
                </a:solidFill>
              </a:rPr>
              <a:t>écart restant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555480" y="23957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E6A7A"/>
                </a:solidFill>
              </a:rPr>
              <a:t>+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104120" y="2057400"/>
            <a:ext cx="1280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68712" y="21945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A7A"/>
                </a:solidFill>
              </a:rPr>
              <a:t>Tendance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378440" y="24505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EAA66"/>
                </a:solidFill>
              </a:rPr>
              <a:t>↗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914400" y="38862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222B"/>
                </a:solidFill>
              </a:rPr>
              <a:t>Références fréquentes : période précédente · objectif · budget · benchmark · seuil · moyenne.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463040" y="4709160"/>
            <a:ext cx="93268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64208" y="4754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1DB2"/>
                </a:solidFill>
              </a:rPr>
              <a:t>“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2057400" y="5001768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222B"/>
                </a:solidFill>
              </a:rPr>
              <a:t>La question n’est pas seulement « combien ? » mais « par rapport à quoi ? ».</a:t>
            </a:r>
            <a:endParaRPr lang="en-US" sz="1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Adapter le récit au profil du lecteur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Le syllabus distingue dashboard exécutif et dashboard analytique.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PROFILS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5166360" cy="3429000"/>
          </a:xfrm>
          <a:prstGeom prst="roundRect">
            <a:avLst>
              <a:gd name="adj" fmla="val 1600"/>
            </a:avLst>
          </a:prstGeom>
          <a:solidFill>
            <a:srgbClr val="EFE8FA"/>
          </a:solidFill>
          <a:ln w="12700">
            <a:solidFill>
              <a:srgbClr val="D6C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64008" cy="3429000"/>
          </a:xfrm>
          <a:prstGeom prst="rect">
            <a:avLst/>
          </a:prstGeom>
          <a:solidFill>
            <a:srgbClr val="5B1DB2"/>
          </a:solidFill>
          <a:ln w="12700">
            <a:solidFill>
              <a:srgbClr val="5B1D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011680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Dashboard exécutif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" y="2395728"/>
            <a:ext cx="481888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Synthèse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KPIs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Alertes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Écarts vs objectifs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Peu de filtres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Message principal visible immédiatement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66360" cy="3429000"/>
          </a:xfrm>
          <a:prstGeom prst="roundRect">
            <a:avLst>
              <a:gd name="adj" fmla="val 1600"/>
            </a:avLst>
          </a:prstGeom>
          <a:solidFill>
            <a:srgbClr val="FCEFEA"/>
          </a:solidFill>
          <a:ln w="12700">
            <a:solidFill>
              <a:srgbClr val="F0C9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828800"/>
            <a:ext cx="64008" cy="3429000"/>
          </a:xfrm>
          <a:prstGeom prst="rect">
            <a:avLst/>
          </a:prstGeom>
          <a:solidFill>
            <a:srgbClr val="F28C68"/>
          </a:solidFill>
          <a:ln w="12700">
            <a:solidFill>
              <a:srgbClr val="F28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2011680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Dashboard analytique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64808" y="2395728"/>
            <a:ext cx="481888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Détail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Filtres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Segments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Comparaisons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Drill-down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Exploration des causes et des exceptions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546811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222B"/>
                </a:solidFill>
              </a:rPr>
              <a:t>Même dataset, profondeur de lecture différente.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Même dataset, deux récits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La question métier détermine la profondeur et la forme du dashboard.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ADAPTATION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5303520" cy="34747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1DB2"/>
                </a:solidFill>
              </a:rPr>
              <a:t>Pour la direction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2697480"/>
            <a:ext cx="14630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283464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7A"/>
                </a:solidFill>
              </a:rPr>
              <a:t>CA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52144" y="309067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22B"/>
                </a:solidFill>
              </a:rPr>
              <a:t>2,4 M€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52144" y="345643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AA66"/>
                </a:solidFill>
              </a:rPr>
              <a:t>+12 %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51760" y="2697480"/>
            <a:ext cx="14630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283464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7A"/>
                </a:solidFill>
              </a:rPr>
              <a:t>Marge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98064" y="309067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22B"/>
                </a:solidFill>
              </a:rPr>
              <a:t>38 %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98064" y="345643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AA66"/>
                </a:solidFill>
              </a:rPr>
              <a:t>+2,1 pts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0" y="2697480"/>
            <a:ext cx="1280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4" y="2834640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7A"/>
                </a:solidFill>
              </a:rPr>
              <a:t>Alerte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43984" y="3090672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22B"/>
                </a:solidFill>
              </a:rPr>
              <a:t>Sud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43984" y="345643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4A4A"/>
                </a:solidFill>
              </a:rPr>
              <a:t>−18 %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05840" y="416052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4222B"/>
                </a:solidFill>
              </a:rPr>
              <a:t>Message : la performance est positive, mais une zone nécessite une attention rapide.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6263640" y="1828800"/>
            <a:ext cx="5303520" cy="34747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C68"/>
                </a:solidFill>
              </a:rPr>
              <a:t>Pour l’analyste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629400" y="3237105"/>
            <a:ext cx="930402" cy="649095"/>
          </a:xfrm>
          <a:prstGeom prst="rect">
            <a:avLst/>
          </a:prstGeom>
          <a:solidFill>
            <a:srgbClr val="D7C3F2"/>
          </a:solidFill>
          <a:ln w="12700">
            <a:solidFill>
              <a:srgbClr val="D7C3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3950208"/>
            <a:ext cx="9852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A7A"/>
                </a:solidFill>
              </a:rPr>
              <a:t>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706106" y="2788920"/>
            <a:ext cx="930402" cy="1097280"/>
          </a:xfrm>
          <a:prstGeom prst="rect">
            <a:avLst/>
          </a:prstGeom>
          <a:solidFill>
            <a:srgbClr val="F28C68"/>
          </a:solidFill>
          <a:ln w="12700">
            <a:solidFill>
              <a:srgbClr val="F28C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78674" y="3950208"/>
            <a:ext cx="9852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A7A"/>
                </a:solidFill>
              </a:rPr>
              <a:t>B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782812" y="3608016"/>
            <a:ext cx="930402" cy="278184"/>
          </a:xfrm>
          <a:prstGeom prst="rect">
            <a:avLst/>
          </a:prstGeom>
          <a:solidFill>
            <a:srgbClr val="D7C3F2"/>
          </a:solidFill>
          <a:ln w="12700">
            <a:solidFill>
              <a:srgbClr val="D7C3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55380" y="3950208"/>
            <a:ext cx="9852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A7A"/>
                </a:solidFill>
              </a:rPr>
              <a:t>C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859518" y="3546198"/>
            <a:ext cx="930402" cy="340002"/>
          </a:xfrm>
          <a:prstGeom prst="rect">
            <a:avLst/>
          </a:prstGeom>
          <a:solidFill>
            <a:srgbClr val="D7C3F2"/>
          </a:solidFill>
          <a:ln w="12700">
            <a:solidFill>
              <a:srgbClr val="D7C3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32086" y="3950208"/>
            <a:ext cx="9852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A7A"/>
                </a:solidFill>
              </a:rPr>
              <a:t>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83680" y="416052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4222B"/>
                </a:solidFill>
              </a:rPr>
              <a:t>Question : quels segments, produits et périodes expliquent la baisse du Sud ?</a:t>
            </a:r>
            <a:endParaRPr lang="en-US" sz="13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Storytelling ≠ décoration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Le récit analytique ne consiste pas à embellir : il consiste à clarifier.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ANTI-PATTERNS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301752" cy="301752"/>
          </a:xfrm>
          <a:prstGeom prst="ellipse">
            <a:avLst/>
          </a:prstGeom>
          <a:solidFill>
            <a:srgbClr val="FBEDED"/>
          </a:solidFill>
          <a:ln w="12700">
            <a:solidFill>
              <a:srgbClr val="FBED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9823" y="1828727"/>
            <a:ext cx="519465" cy="227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4A4A"/>
                </a:solidFill>
              </a:rPr>
              <a:t>×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809931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Trop de couleurs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94760" y="1782717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7A"/>
                </a:solidFill>
              </a:rPr>
              <a:t>La couleur devient du bruit au lieu d’un signal.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2532888"/>
            <a:ext cx="301752" cy="301752"/>
          </a:xfrm>
          <a:prstGeom prst="ellipse">
            <a:avLst/>
          </a:prstGeom>
          <a:solidFill>
            <a:srgbClr val="FBEDED"/>
          </a:solidFill>
          <a:ln w="12700">
            <a:solidFill>
              <a:srgbClr val="FBED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59739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Trop de graphiques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2532525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7A"/>
                </a:solidFill>
              </a:rPr>
              <a:t>La hiérarchie disparaît.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3282696"/>
            <a:ext cx="301752" cy="301752"/>
          </a:xfrm>
          <a:prstGeom prst="ellipse">
            <a:avLst/>
          </a:prstGeom>
          <a:solidFill>
            <a:srgbClr val="FBEDED"/>
          </a:solidFill>
          <a:ln w="12700">
            <a:solidFill>
              <a:srgbClr val="FBED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3309547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Titres génériques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94760" y="3282333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7A"/>
                </a:solidFill>
              </a:rPr>
              <a:t>Le lecteur doit interpréter seul chaque visuel.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032504"/>
            <a:ext cx="301752" cy="301752"/>
          </a:xfrm>
          <a:prstGeom prst="ellipse">
            <a:avLst/>
          </a:prstGeom>
          <a:solidFill>
            <a:srgbClr val="FBEDED"/>
          </a:solidFill>
          <a:ln w="12700">
            <a:solidFill>
              <a:srgbClr val="FBED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114437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4A4A"/>
                </a:solidFill>
              </a:rPr>
              <a:t>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53312" y="4059355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Annotations partout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94760" y="4032141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7A"/>
                </a:solidFill>
              </a:rPr>
              <a:t>L’essentiel se perd dans les détails.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4782312"/>
            <a:ext cx="301752" cy="301752"/>
          </a:xfrm>
          <a:prstGeom prst="ellipse">
            <a:avLst/>
          </a:prstGeom>
          <a:solidFill>
            <a:srgbClr val="FBEDED"/>
          </a:solidFill>
          <a:ln w="12700">
            <a:solidFill>
              <a:srgbClr val="FBED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609" y="4882388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4A4A"/>
                </a:solidFill>
              </a:rPr>
              <a:t>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53312" y="4809163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Conclusion non reliée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94760" y="4781949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7A"/>
                </a:solidFill>
              </a:rPr>
              <a:t>La recommandation semble arbitraire.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97280" y="5532120"/>
            <a:ext cx="10012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5577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1DB2"/>
                </a:solidFill>
              </a:rPr>
              <a:t>“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1691640" y="5706800"/>
            <a:ext cx="9189720" cy="282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222B"/>
                </a:solidFill>
              </a:rPr>
              <a:t>Chaque élément du dashboard doit avoir une fonction : informer, expliquer, comparer ou orienter.</a:t>
            </a:r>
            <a:endParaRPr lang="en-US" sz="1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49341478-A0D5-EF7E-057D-956E98125E1E}"/>
              </a:ext>
            </a:extLst>
          </p:cNvPr>
          <p:cNvSpPr/>
          <p:nvPr/>
        </p:nvSpPr>
        <p:spPr>
          <a:xfrm>
            <a:off x="759822" y="2581654"/>
            <a:ext cx="519465" cy="227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4A4A"/>
                </a:solidFill>
              </a:rPr>
              <a:t>×</a:t>
            </a:r>
            <a:endParaRPr lang="en-US" sz="10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E15925F1-5897-22DB-F622-813F3F7BCF25}"/>
              </a:ext>
            </a:extLst>
          </p:cNvPr>
          <p:cNvSpPr/>
          <p:nvPr/>
        </p:nvSpPr>
        <p:spPr>
          <a:xfrm>
            <a:off x="759822" y="3325512"/>
            <a:ext cx="519465" cy="227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4A4A"/>
                </a:solidFill>
              </a:rPr>
              <a:t>×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récit doit rester lisible et accessible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Le message ne doit jamais dépendre uniquement de la couleur ou d’un effet visuel.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ACCESSIBILITÉ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33375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64008" cy="2194560"/>
          </a:xfrm>
          <a:prstGeom prst="rect">
            <a:avLst/>
          </a:prstGeom>
          <a:solidFill>
            <a:srgbClr val="5B1DB2"/>
          </a:solidFill>
          <a:ln w="12700">
            <a:solidFill>
              <a:srgbClr val="5B1D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011680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Contraste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" y="2395728"/>
            <a:ext cx="29900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Texte lisible, fonds sobres, écarts de luminosité suffisants entre les éléments importants.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16552" y="1828800"/>
            <a:ext cx="33375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6552" y="1828800"/>
            <a:ext cx="64008" cy="2194560"/>
          </a:xfrm>
          <a:prstGeom prst="rect">
            <a:avLst/>
          </a:prstGeom>
          <a:solidFill>
            <a:srgbClr val="F28C68"/>
          </a:solidFill>
          <a:ln w="12700">
            <a:solidFill>
              <a:srgbClr val="F28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011680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Redondance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395728"/>
            <a:ext cx="29900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Associer couleur + libellé + forme ou symbole lorsque le statut est important.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55864" y="1828800"/>
            <a:ext cx="33375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D9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55864" y="1828800"/>
            <a:ext cx="64008" cy="2194560"/>
          </a:xfrm>
          <a:prstGeom prst="rect">
            <a:avLst/>
          </a:prstGeom>
          <a:solidFill>
            <a:srgbClr val="2EAA66"/>
          </a:solidFill>
          <a:ln w="12700">
            <a:solidFill>
              <a:srgbClr val="2EA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2011680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22B"/>
                </a:solidFill>
              </a:rPr>
              <a:t>Hiérarchie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57032" y="2395728"/>
            <a:ext cx="29900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A7A"/>
                </a:solidFill>
              </a:rPr>
              <a:t>Titres explicites, ordre logique, vocabulaire clair, peu d’informations concurrentes.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74520" y="4590288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EFE8FA"/>
          </a:solidFill>
          <a:ln w="12700">
            <a:solidFill>
              <a:srgbClr val="D6C2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48554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148C"/>
                </a:solidFill>
              </a:rPr>
              <a:t>Un storytelling efficace simplifie la lecture pour tous les utilisateurs.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avant publication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Une dernière lecture permet de vérifier si le récit tient sans explication orale.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CHECKLIST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777240" y="1801368"/>
            <a:ext cx="310896" cy="310896"/>
          </a:xfrm>
          <a:prstGeom prst="ellipse">
            <a:avLst/>
          </a:prstGeom>
          <a:solidFill>
            <a:srgbClr val="EAF7F0"/>
          </a:solidFill>
          <a:ln w="12700">
            <a:solidFill>
              <a:srgbClr val="C7EA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4708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AA66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52728" y="1783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4222B"/>
                </a:solidFill>
              </a:rPr>
              <a:t>Le message principal est identifiable en quelques secondes.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777240" y="2734056"/>
            <a:ext cx="310896" cy="310896"/>
          </a:xfrm>
          <a:prstGeom prst="ellipse">
            <a:avLst/>
          </a:prstGeom>
          <a:solidFill>
            <a:srgbClr val="EAF7F0"/>
          </a:solidFill>
          <a:ln w="12700">
            <a:solidFill>
              <a:srgbClr val="C7EA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77977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AA66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52728" y="27157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4222B"/>
                </a:solidFill>
              </a:rPr>
              <a:t>Chaque page répond à une question métier précise.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777240" y="3666744"/>
            <a:ext cx="310896" cy="310896"/>
          </a:xfrm>
          <a:prstGeom prst="ellipse">
            <a:avLst/>
          </a:prstGeom>
          <a:solidFill>
            <a:srgbClr val="EAF7F0"/>
          </a:solidFill>
          <a:ln w="12700">
            <a:solidFill>
              <a:srgbClr val="C7EA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71246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AA66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52728" y="36484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4222B"/>
                </a:solidFill>
              </a:rPr>
              <a:t>Les titres expriment les conclusions plutôt que le type de graphique.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777240" y="4599432"/>
            <a:ext cx="310896" cy="310896"/>
          </a:xfrm>
          <a:prstGeom prst="ellipse">
            <a:avLst/>
          </a:prstGeom>
          <a:solidFill>
            <a:srgbClr val="EAF7F0"/>
          </a:solidFill>
          <a:ln w="12700">
            <a:solidFill>
              <a:srgbClr val="C7EA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464515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AA66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52728" y="458114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4222B"/>
                </a:solidFill>
              </a:rPr>
              <a:t>Les chiffres importants possèdent un point de référence.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309360" y="1801368"/>
            <a:ext cx="310896" cy="310896"/>
          </a:xfrm>
          <a:prstGeom prst="ellipse">
            <a:avLst/>
          </a:prstGeom>
          <a:solidFill>
            <a:srgbClr val="EAF7F0"/>
          </a:solidFill>
          <a:ln w="12700">
            <a:solidFill>
              <a:srgbClr val="C7EA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84708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AA66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84848" y="1783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4222B"/>
                </a:solidFill>
              </a:rPr>
              <a:t>Les annotations sont utilisées uniquement lorsqu’elles changent l’interprétation.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6309360" y="2734056"/>
            <a:ext cx="310896" cy="310896"/>
          </a:xfrm>
          <a:prstGeom prst="ellipse">
            <a:avLst/>
          </a:prstGeom>
          <a:solidFill>
            <a:srgbClr val="EAF7F0"/>
          </a:solidFill>
          <a:ln w="12700">
            <a:solidFill>
              <a:srgbClr val="C7EA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504" y="277977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AA66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84848" y="27157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4222B"/>
                </a:solidFill>
              </a:rPr>
              <a:t>Le lecteur comprend le passage du constat à la recommandation.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309360" y="3666744"/>
            <a:ext cx="310896" cy="310896"/>
          </a:xfrm>
          <a:prstGeom prst="ellipse">
            <a:avLst/>
          </a:prstGeom>
          <a:solidFill>
            <a:srgbClr val="EAF7F0"/>
          </a:solidFill>
          <a:ln w="12700">
            <a:solidFill>
              <a:srgbClr val="C7EA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8504" y="371246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AA66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84848" y="36484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4222B"/>
                </a:solidFill>
              </a:rPr>
              <a:t>Le niveau de détail correspond au profil utilisateur.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6309360" y="4599432"/>
            <a:ext cx="310896" cy="310896"/>
          </a:xfrm>
          <a:prstGeom prst="ellipse">
            <a:avLst/>
          </a:prstGeom>
          <a:solidFill>
            <a:srgbClr val="EAF7F0"/>
          </a:solidFill>
          <a:ln w="12700">
            <a:solidFill>
              <a:srgbClr val="C7EA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464515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AA66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84848" y="458114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4222B"/>
                </a:solidFill>
              </a:rPr>
              <a:t>La lecture reste possible sans dépendre uniquement de la couleur.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2103120" y="559612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1DB2"/>
                </a:solidFill>
              </a:rPr>
              <a:t>Test final : peut-on raconter le dashboard en une phrase ?</a:t>
            </a:r>
            <a:endParaRPr lang="en-US" sz="17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22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À retenir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A7A"/>
                </a:solidFill>
              </a:rPr>
              <a:t>Le storytelling organise la compréhension avant d’organiser les visuels.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76072" y="12984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FE8FA"/>
          </a:solidFill>
          <a:ln w="12700">
            <a:solidFill>
              <a:srgbClr val="EFE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5B1DB2"/>
                </a:solidFill>
              </a:rPr>
              <a:t>SYNTHÈSE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38912" cy="438912"/>
          </a:xfrm>
          <a:prstGeom prst="ellipse">
            <a:avLst/>
          </a:prstGeom>
          <a:solidFill>
            <a:srgbClr val="5B1DB2"/>
          </a:solidFill>
          <a:ln w="12700">
            <a:solidFill>
              <a:srgbClr val="5B1D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470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1719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222B"/>
                </a:solidFill>
              </a:rPr>
              <a:t>Commencer par le message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17720" y="1728216"/>
            <a:ext cx="6080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7A"/>
                </a:solidFill>
              </a:rPr>
              <a:t>Avant de choisir un visuel, définir ce que l’utilisateur doit comprendre.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651760"/>
            <a:ext cx="438912" cy="438912"/>
          </a:xfrm>
          <a:prstGeom prst="ellipse">
            <a:avLst/>
          </a:prstGeom>
          <a:solidFill>
            <a:srgbClr val="F28C68"/>
          </a:solidFill>
          <a:ln w="12700">
            <a:solidFill>
              <a:srgbClr val="F28C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614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2633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222B"/>
                </a:solidFill>
              </a:rPr>
              <a:t>Construire une progression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17720" y="2642616"/>
            <a:ext cx="6080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7A"/>
                </a:solidFill>
              </a:rPr>
              <a:t>Contexte → tension → résolution → recommandation.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566160"/>
            <a:ext cx="438912" cy="438912"/>
          </a:xfrm>
          <a:prstGeom prst="ellipse">
            <a:avLst/>
          </a:prstGeom>
          <a:solidFill>
            <a:srgbClr val="5B1DB2"/>
          </a:solidFill>
          <a:ln w="12700">
            <a:solidFill>
              <a:srgbClr val="5B1D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758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00200" y="3547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222B"/>
                </a:solidFill>
              </a:rPr>
              <a:t>Faire parler les titres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17720" y="3557016"/>
            <a:ext cx="6080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7A"/>
                </a:solidFill>
              </a:rPr>
              <a:t>Le titre doit porter l’insight principal.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480560"/>
            <a:ext cx="438912" cy="438912"/>
          </a:xfrm>
          <a:prstGeom prst="ellipse">
            <a:avLst/>
          </a:prstGeom>
          <a:solidFill>
            <a:srgbClr val="5B1DB2"/>
          </a:solidFill>
          <a:ln w="12700">
            <a:solidFill>
              <a:srgbClr val="5B1D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902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00200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222B"/>
                </a:solidFill>
              </a:rPr>
              <a:t>Adapter la profondeur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617720" y="4471416"/>
            <a:ext cx="6080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7A"/>
                </a:solidFill>
              </a:rPr>
              <a:t>Exécutif = synthèse ; analytique = exploration et détail.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74520" y="5623560"/>
            <a:ext cx="8412480" cy="640080"/>
          </a:xfrm>
          <a:prstGeom prst="roundRect">
            <a:avLst>
              <a:gd name="adj" fmla="val 7143"/>
            </a:avLst>
          </a:prstGeom>
          <a:solidFill>
            <a:srgbClr val="5B1DB2"/>
          </a:solidFill>
          <a:ln w="12700">
            <a:solidFill>
              <a:srgbClr val="5B1D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582472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Demain : rendre ce récit interactif avec DAX, navigation, signets et visuels avancés.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3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24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NexaCourse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de dashboards — Jour 1 — Storytelling</dc:title>
  <dc:subject>Conception de dashboards - Data storytelling</dc:subject>
  <dc:creator>OpenAI</dc:creator>
  <cp:lastModifiedBy>OpenAI</cp:lastModifiedBy>
  <cp:revision>62</cp:revision>
  <dcterms:created xsi:type="dcterms:W3CDTF">2026-09-29T16:40:40Z</dcterms:created>
  <dcterms:modified xsi:type="dcterms:W3CDTF">2026-09-30T14:48:04Z</dcterms:modified>
</cp:coreProperties>
</file>